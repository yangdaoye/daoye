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B429"/>
                </a:solidFill>
                <a:latin typeface="Microsoft YaHei"/>
                <a:ea typeface="Microsoft YaHei"/>
              </a:rPr>
              <a:t>结题答辩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5F7FA"/>
                </a:solidFill>
                <a:latin typeface="Microsoft YaHei"/>
                <a:ea typeface="Microsoft YaHei"/>
              </a:rPr>
              <a:t>基于智能交互手套的</a:t>
            </a:r>
          </a:p>
          <a:p>
            <a:pPr algn="ctr"/>
            <a:r>
              <a:rPr sz="3600" b="1">
                <a:solidFill>
                  <a:srgbClr val="F5F7FA"/>
                </a:solidFill>
                <a:latin typeface="Microsoft YaHei"/>
                <a:ea typeface="Microsoft YaHei"/>
              </a:rPr>
              <a:t>恒星形成模拟器设计与实现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8B8C8"/>
                </a:solidFill>
                <a:latin typeface="Microsoft YaHei"/>
                <a:ea typeface="Microsoft YaHei"/>
              </a:rPr>
              <a:t>保留开题研究背景与方案，重点展示网站成果、硬件制作、联调测试与总结展望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463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5F7FA"/>
                </a:solidFill>
                <a:latin typeface="Microsoft YaHei"/>
                <a:ea typeface="Microsoft YaHei"/>
              </a:rPr>
              <a:t>答辩人：________　　指导教师：________</a:t>
            </a:r>
          </a:p>
          <a:p>
            <a:pPr algn="ctr"/>
            <a:r>
              <a:rPr sz="1400" b="0">
                <a:solidFill>
                  <a:srgbClr val="F5F7FA"/>
                </a:solidFill>
                <a:latin typeface="Microsoft YaHei"/>
                <a:ea typeface="Microsoft YaHei"/>
              </a:rPr>
              <a:t>学院 / 专业：________　　日期：________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0040"/>
            <a:ext cx="109728" cy="50292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9260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5F7FA"/>
                </a:solidFill>
                <a:latin typeface="Microsoft YaHei"/>
                <a:ea typeface="Microsoft YaHei"/>
              </a:rPr>
              <a:t>目录 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0B429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3258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Microsoft YaHei"/>
                <a:ea typeface="Microsoft YaHei"/>
              </a:rPr>
              <a:t>研究背景与意义（开题保留）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0B429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240279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Microsoft YaHei"/>
                <a:ea typeface="Microsoft YaHei"/>
              </a:rPr>
              <a:t>研究内容与总体方案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0896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0B429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3154679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Microsoft YaHei"/>
                <a:ea typeface="Microsoft YaHei"/>
              </a:rPr>
              <a:t>技术路线与系统架构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02336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0B429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40690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Microsoft YaHei"/>
                <a:ea typeface="Microsoft YaHei"/>
              </a:rPr>
              <a:t>恒星形成模拟器网站设计与功能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93776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0B429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49834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Microsoft YaHei"/>
                <a:ea typeface="Microsoft YaHei"/>
              </a:rPr>
              <a:t>网站制作过程展示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28016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0B429"/>
                </a:solidFill>
                <a:latin typeface="Microsoft YaHei"/>
                <a:ea typeface="Microsoft YaHei"/>
              </a:rPr>
              <a:t>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13258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Microsoft YaHei"/>
                <a:ea typeface="Microsoft YaHei"/>
              </a:rPr>
              <a:t>接线图与流程图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19456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0B429"/>
                </a:solidFill>
                <a:latin typeface="Microsoft YaHei"/>
                <a:ea typeface="Microsoft YaHei"/>
              </a:rPr>
              <a:t>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2240279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Microsoft YaHei"/>
                <a:ea typeface="Microsoft YaHei"/>
              </a:rPr>
              <a:t>互动手套制作过程与结果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10896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0B429"/>
                </a:solidFill>
                <a:latin typeface="Microsoft YaHei"/>
                <a:ea typeface="Microsoft YaHei"/>
              </a:rPr>
              <a:t>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3154679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Microsoft YaHei"/>
                <a:ea typeface="Microsoft YaHei"/>
              </a:rPr>
              <a:t>智能手套功能测试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02336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0B429"/>
                </a:solidFill>
                <a:latin typeface="Microsoft YaHei"/>
                <a:ea typeface="Microsoft YaHei"/>
              </a:rPr>
              <a:t>09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40690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Microsoft YaHei"/>
                <a:ea typeface="Microsoft YaHei"/>
              </a:rPr>
              <a:t>总结与展望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93776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0B429"/>
                </a:solidFill>
                <a:latin typeface="Microsoft YaHei"/>
                <a:ea typeface="Microsoft YaHei"/>
              </a:rP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49834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5F7FA"/>
                </a:solidFill>
                <a:latin typeface="Microsoft YaHei"/>
                <a:ea typeface="Microsoft YaHei"/>
              </a:rPr>
              <a:t>参考文献 · 感悟与致谢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B8C8"/>
                </a:solidFill>
                <a:latin typeface="Microsoft YaHei"/>
                <a:ea typeface="Microsoft YaHei"/>
              </a:rPr>
              <a:t>恒星形成模拟器 · 结题答辩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8B8C8"/>
                </a:solidFill>
                <a:latin typeface="Microsoft YaHei"/>
                <a:ea typeface="Microsoft YaHei"/>
              </a:rPr>
              <a:t>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0040"/>
            <a:ext cx="109728" cy="50292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9260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5F7FA"/>
                </a:solidFill>
                <a:latin typeface="Microsoft YaHei"/>
                <a:ea typeface="Microsoft YaHei"/>
              </a:rPr>
              <a:t>一、研究背景与意义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8B8C8"/>
                </a:solidFill>
                <a:latin typeface="Microsoft YaHei"/>
                <a:ea typeface="Microsoft YaHei"/>
              </a:rPr>
              <a:t>开题内容保留与凝练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5303520" cy="2194560"/>
          </a:xfrm>
          <a:prstGeom prst="roundRect">
            <a:avLst/>
          </a:prstGeom>
          <a:solidFill>
            <a:srgbClr val="132A40"/>
          </a:solidFill>
          <a:ln w="15875">
            <a:solidFill>
              <a:srgbClr val="F0B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508760"/>
            <a:ext cx="49377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0B429"/>
                </a:solidFill>
                <a:latin typeface="Microsoft YaHei"/>
                <a:ea typeface="Microsoft YaHei"/>
              </a:rPr>
              <a:t>科学背景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1874519"/>
            <a:ext cx="493775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Microsoft YaHei"/>
                <a:ea typeface="Microsoft YaHei"/>
              </a:rPr>
              <a:t>恒星形成是天体物理学的核心议题之一。分子云在引力作用下坍缩，历经致密核、原恒星到主序星等阶段。传统课堂讲解抽象，难以直观感受多物理过程的耦合与反馈。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303520" cy="2194560"/>
          </a:xfrm>
          <a:prstGeom prst="roundRect">
            <a:avLst/>
          </a:prstGeom>
          <a:solidFill>
            <a:srgbClr val="132A40"/>
          </a:solidFill>
          <a:ln w="15875">
            <a:solidFill>
              <a:srgbClr val="4EC3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08760"/>
            <a:ext cx="49377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EC3D8"/>
                </a:solidFill>
                <a:latin typeface="Microsoft YaHei"/>
                <a:ea typeface="Microsoft YaHei"/>
              </a:rPr>
              <a:t>教育痛点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74519"/>
            <a:ext cx="493775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Microsoft YaHei"/>
                <a:ea typeface="Microsoft YaHei"/>
              </a:rPr>
              <a:t>纯二维图示与视频演示缺少“可操作”体验；学生对参数如何影响坍缩、碎裂与反馈缺乏即时反馈。需要可视化 + 体感交互的学习载体。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40480"/>
            <a:ext cx="10881360" cy="2103120"/>
          </a:xfrm>
          <a:prstGeom prst="roundRect">
            <a:avLst/>
          </a:prstGeom>
          <a:solidFill>
            <a:srgbClr val="132A40"/>
          </a:solidFill>
          <a:ln w="15875">
            <a:solidFill>
              <a:srgbClr val="F0B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3977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0B429"/>
                </a:solidFill>
                <a:latin typeface="Microsoft YaHei"/>
                <a:ea typeface="Microsoft YaHei"/>
              </a:rPr>
              <a:t>本课题意义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4343400"/>
            <a:ext cx="1051560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Microsoft YaHei"/>
                <a:ea typeface="Microsoft YaHei"/>
              </a:rPr>
              <a:t>搭建恒星形成过程的交互式网站模拟器，并研制可穿戴智能手套，用手势实时操控仿真参数与场景进程，实现“看—做—悟”一体化科普与教学演示，提升课题的工程落地与展示完整性。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B8C8"/>
                </a:solidFill>
                <a:latin typeface="Microsoft YaHei"/>
                <a:ea typeface="Microsoft YaHei"/>
              </a:rPr>
              <a:t>恒星形成模拟器 · 结题答辩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8B8C8"/>
                </a:solidFill>
                <a:latin typeface="Microsoft YaHei"/>
                <a:ea typeface="Microsoft YaHei"/>
              </a:rPr>
              <a:t>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0040"/>
            <a:ext cx="109728" cy="50292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9260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5F7FA"/>
                </a:solidFill>
                <a:latin typeface="Microsoft YaHei"/>
                <a:ea typeface="Microsoft YaHei"/>
              </a:rPr>
              <a:t>二、研究内容与目标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F5F7FA"/>
                </a:solidFill>
                <a:latin typeface="Microsoft YaHei"/>
                <a:ea typeface="Microsoft YaHei"/>
              </a:rPr>
              <a:t>●  梳理恒星形成关键物理图像与教学演示需求，明确可视化场景与交互目标。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F5F7FA"/>
                </a:solidFill>
                <a:latin typeface="Microsoft YaHei"/>
                <a:ea typeface="Microsoft YaHei"/>
              </a:rPr>
              <a:t>●  设计并实现恒星形成模拟器网站：场景展示、参数调节、过程动画与结果反馈。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F5F7FA"/>
                </a:solidFill>
                <a:latin typeface="Microsoft YaHei"/>
                <a:ea typeface="Microsoft YaHei"/>
              </a:rPr>
              <a:t>●  研制互动智能手套：弯曲传感、姿态感知、主控通信与手势映射。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F5F7FA"/>
                </a:solidFill>
                <a:latin typeface="Microsoft YaHei"/>
                <a:ea typeface="Microsoft YaHei"/>
              </a:rPr>
              <a:t>●  完成手套与网站联调，形成可演示的人机交互闭环。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F5F7FA"/>
                </a:solidFill>
                <a:latin typeface="Microsoft YaHei"/>
                <a:ea typeface="Microsoft YaHei"/>
              </a:rPr>
              <a:t>●  整理制作过程、测试结果、总结展望与答辩材料。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B8C8"/>
                </a:solidFill>
                <a:latin typeface="Microsoft YaHei"/>
                <a:ea typeface="Microsoft YaHei"/>
              </a:rPr>
              <a:t>恒星形成模拟器 · 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8B8C8"/>
                </a:solidFill>
                <a:latin typeface="Microsoft YaHei"/>
                <a:ea typeface="Microsoft YaHei"/>
              </a:rPr>
              <a:t>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0040"/>
            <a:ext cx="109728" cy="50292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9260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5F7FA"/>
                </a:solidFill>
                <a:latin typeface="Microsoft YaHei"/>
                <a:ea typeface="Microsoft YaHei"/>
              </a:rPr>
              <a:t>三、技术路线</a:t>
            </a:r>
          </a:p>
        </p:txBody>
      </p:sp>
      <p:pic>
        <p:nvPicPr>
          <p:cNvPr id="5" name="Picture 4" descr="07_overall_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43000"/>
            <a:ext cx="1115568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B8C8"/>
                </a:solidFill>
                <a:latin typeface="Microsoft YaHei"/>
                <a:ea typeface="Microsoft YaHei"/>
              </a:rPr>
              <a:t>恒星形成模拟器 · 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8B8C8"/>
                </a:solidFill>
                <a:latin typeface="Microsoft YaHei"/>
                <a:ea typeface="Microsoft YaHei"/>
              </a:rPr>
              <a:t>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0040"/>
            <a:ext cx="109728" cy="50292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9260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5F7FA"/>
                </a:solidFill>
                <a:latin typeface="Microsoft YaHei"/>
                <a:ea typeface="Microsoft YaHei"/>
              </a:rPr>
              <a:t>三、系统总体架构</a:t>
            </a:r>
          </a:p>
        </p:txBody>
      </p:sp>
      <p:pic>
        <p:nvPicPr>
          <p:cNvPr id="5" name="Picture 4" descr="01_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97280"/>
            <a:ext cx="11155680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B8C8"/>
                </a:solidFill>
                <a:latin typeface="Microsoft YaHei"/>
                <a:ea typeface="Microsoft YaHei"/>
              </a:rPr>
              <a:t>恒星形成模拟器 · 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8B8C8"/>
                </a:solidFill>
                <a:latin typeface="Microsoft YaHei"/>
                <a:ea typeface="Microsoft YaHei"/>
              </a:rPr>
              <a:t>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0040"/>
            <a:ext cx="109728" cy="50292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9260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5F7FA"/>
                </a:solidFill>
                <a:latin typeface="Microsoft YaHei"/>
                <a:ea typeface="Microsoft YaHei"/>
              </a:rPr>
              <a:t>四、恒星形成模拟器网站 · 功能总览</a:t>
            </a:r>
          </a:p>
        </p:txBody>
      </p:sp>
      <p:pic>
        <p:nvPicPr>
          <p:cNvPr id="5" name="Picture 4" descr="02_website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11430000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B8C8"/>
                </a:solidFill>
                <a:latin typeface="Microsoft YaHei"/>
                <a:ea typeface="Microsoft YaHei"/>
              </a:rPr>
              <a:t>恒星形成模拟器 · 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8B8C8"/>
                </a:solidFill>
                <a:latin typeface="Microsoft YaHei"/>
                <a:ea typeface="Microsoft YaHei"/>
              </a:rPr>
              <a:t>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0040"/>
            <a:ext cx="109728" cy="50292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9260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5F7FA"/>
                </a:solidFill>
                <a:latin typeface="Microsoft YaHei"/>
                <a:ea typeface="Microsoft YaHei"/>
              </a:rPr>
              <a:t>四、网站功能展示（截图）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8B8C8"/>
                </a:solidFill>
                <a:latin typeface="Microsoft YaHei"/>
                <a:ea typeface="Microsoft YaHei"/>
              </a:rPr>
              <a:t>请替换为实际网站截图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2697480" cy="3108960"/>
          </a:xfrm>
          <a:prstGeom prst="roundRect">
            <a:avLst/>
          </a:prstGeom>
          <a:solidFill>
            <a:srgbClr val="1A3348"/>
          </a:solidFill>
          <a:ln w="19050">
            <a:solidFill>
              <a:srgbClr val="F0B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77439"/>
            <a:ext cx="2423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0B429"/>
                </a:solidFill>
                <a:latin typeface="Microsoft YaHei"/>
                <a:ea typeface="Microsoft YaHei"/>
              </a:rPr>
              <a:t>【待插入图片】</a:t>
            </a:r>
          </a:p>
          <a:p>
            <a:pPr algn="ctr"/>
            <a:r>
              <a:rPr sz="1200" b="0">
                <a:solidFill>
                  <a:srgbClr val="F0B429"/>
                </a:solidFill>
                <a:latin typeface="Microsoft YaHei"/>
                <a:ea typeface="Microsoft YaHei"/>
              </a:rPr>
              <a:t>首页 / 场景入口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480560"/>
            <a:ext cx="2697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5F7FA"/>
                </a:solidFill>
                <a:latin typeface="Microsoft YaHei"/>
                <a:ea typeface="Microsoft YaHei"/>
              </a:rPr>
              <a:t>首页 / 场景入口</a:t>
            </a:r>
          </a:p>
          <a:p>
            <a:pPr algn="ctr"/>
            <a:r>
              <a:rPr sz="1200" b="0">
                <a:solidFill>
                  <a:srgbClr val="F5F7FA"/>
                </a:solidFill>
                <a:latin typeface="Microsoft YaHei"/>
                <a:ea typeface="Microsoft YaHei"/>
              </a:rPr>
              <a:t>展示项目主题与模拟入口，建立沉浸式第一印象。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234440"/>
            <a:ext cx="2697480" cy="3108960"/>
          </a:xfrm>
          <a:prstGeom prst="roundRect">
            <a:avLst/>
          </a:prstGeom>
          <a:solidFill>
            <a:srgbClr val="1A3348"/>
          </a:solidFill>
          <a:ln w="19050">
            <a:solidFill>
              <a:srgbClr val="F0B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0440" y="2377439"/>
            <a:ext cx="2423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0B429"/>
                </a:solidFill>
                <a:latin typeface="Microsoft YaHei"/>
                <a:ea typeface="Microsoft YaHei"/>
              </a:rPr>
              <a:t>【待插入图片】</a:t>
            </a:r>
          </a:p>
          <a:p>
            <a:pPr algn="ctr"/>
            <a:r>
              <a:rPr sz="1200" b="0">
                <a:solidFill>
                  <a:srgbClr val="F0B429"/>
                </a:solidFill>
                <a:latin typeface="Microsoft YaHei"/>
                <a:ea typeface="Microsoft YaHei"/>
              </a:rPr>
              <a:t>参数调节面板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4480560"/>
            <a:ext cx="2697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5F7FA"/>
                </a:solidFill>
                <a:latin typeface="Microsoft YaHei"/>
                <a:ea typeface="Microsoft YaHei"/>
              </a:rPr>
              <a:t>参数调节面板</a:t>
            </a:r>
          </a:p>
          <a:p>
            <a:pPr algn="ctr"/>
            <a:r>
              <a:rPr sz="1200" b="0">
                <a:solidFill>
                  <a:srgbClr val="F5F7FA"/>
                </a:solidFill>
                <a:latin typeface="Microsoft YaHei"/>
                <a:ea typeface="Microsoft YaHei"/>
              </a:rPr>
              <a:t>初始密度、温度、扰动等参数可视化调节。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234440"/>
            <a:ext cx="2697480" cy="3108960"/>
          </a:xfrm>
          <a:prstGeom prst="roundRect">
            <a:avLst/>
          </a:prstGeom>
          <a:solidFill>
            <a:srgbClr val="1A3348"/>
          </a:solidFill>
          <a:ln w="19050">
            <a:solidFill>
              <a:srgbClr val="F0B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377439"/>
            <a:ext cx="2423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0B429"/>
                </a:solidFill>
                <a:latin typeface="Microsoft YaHei"/>
                <a:ea typeface="Microsoft YaHei"/>
              </a:rPr>
              <a:t>【待插入图片】</a:t>
            </a:r>
          </a:p>
          <a:p>
            <a:pPr algn="ctr"/>
            <a:r>
              <a:rPr sz="1200" b="0">
                <a:solidFill>
                  <a:srgbClr val="F0B429"/>
                </a:solidFill>
                <a:latin typeface="Microsoft YaHei"/>
                <a:ea typeface="Microsoft YaHei"/>
              </a:rPr>
              <a:t>三维 / 动画仿真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4480560"/>
            <a:ext cx="2697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5F7FA"/>
                </a:solidFill>
                <a:latin typeface="Microsoft YaHei"/>
                <a:ea typeface="Microsoft YaHei"/>
              </a:rPr>
              <a:t>三维 / 动画仿真</a:t>
            </a:r>
          </a:p>
          <a:p>
            <a:pPr algn="ctr"/>
            <a:r>
              <a:rPr sz="1200" b="0">
                <a:solidFill>
                  <a:srgbClr val="F5F7FA"/>
                </a:solidFill>
                <a:latin typeface="Microsoft YaHei"/>
                <a:ea typeface="Microsoft YaHei"/>
              </a:rPr>
              <a:t>分子云坍缩至原恒星形成的动态过程。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0" y="1234440"/>
            <a:ext cx="2697480" cy="3108960"/>
          </a:xfrm>
          <a:prstGeom prst="roundRect">
            <a:avLst/>
          </a:prstGeom>
          <a:solidFill>
            <a:srgbClr val="1A3348"/>
          </a:solidFill>
          <a:ln w="19050">
            <a:solidFill>
              <a:srgbClr val="F0B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81160" y="2377439"/>
            <a:ext cx="2423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0B429"/>
                </a:solidFill>
                <a:latin typeface="Microsoft YaHei"/>
                <a:ea typeface="Microsoft YaHei"/>
              </a:rPr>
              <a:t>【待插入图片】</a:t>
            </a:r>
          </a:p>
          <a:p>
            <a:pPr algn="ctr"/>
            <a:r>
              <a:rPr sz="1200" b="0">
                <a:solidFill>
                  <a:srgbClr val="F0B429"/>
                </a:solidFill>
                <a:latin typeface="Microsoft YaHei"/>
                <a:ea typeface="Microsoft YaHei"/>
              </a:rPr>
              <a:t>手套控制状态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4480560"/>
            <a:ext cx="2697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5F7FA"/>
                </a:solidFill>
                <a:latin typeface="Microsoft YaHei"/>
                <a:ea typeface="Microsoft YaHei"/>
              </a:rPr>
              <a:t>手套控制状态</a:t>
            </a:r>
          </a:p>
          <a:p>
            <a:pPr algn="ctr"/>
            <a:r>
              <a:rPr sz="1200" b="0">
                <a:solidFill>
                  <a:srgbClr val="F5F7FA"/>
                </a:solidFill>
                <a:latin typeface="Microsoft YaHei"/>
                <a:ea typeface="Microsoft YaHei"/>
              </a:rPr>
              <a:t>实时显示手势指令与映射反馈。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B8C8"/>
                </a:solidFill>
                <a:latin typeface="Microsoft YaHei"/>
                <a:ea typeface="Microsoft YaHei"/>
              </a:rPr>
              <a:t>恒星形成模拟器 · 结题答辩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8B8C8"/>
                </a:solidFill>
                <a:latin typeface="Microsoft YaHei"/>
                <a:ea typeface="Microsoft YaHei"/>
              </a:rPr>
              <a:t>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0040"/>
            <a:ext cx="109728" cy="50292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9260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5F7FA"/>
                </a:solidFill>
                <a:latin typeface="Microsoft YaHei"/>
                <a:ea typeface="Microsoft YaHei"/>
              </a:rPr>
              <a:t>四、网站主要功能补充截图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34440"/>
            <a:ext cx="5486400" cy="4754880"/>
          </a:xfrm>
          <a:prstGeom prst="roundRect">
            <a:avLst/>
          </a:prstGeom>
          <a:solidFill>
            <a:srgbClr val="1A3348"/>
          </a:solidFill>
          <a:ln w="19050">
            <a:solidFill>
              <a:srgbClr val="F0B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200400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0B429"/>
                </a:solidFill>
                <a:latin typeface="Microsoft YaHei"/>
                <a:ea typeface="Microsoft YaHei"/>
              </a:rPr>
              <a:t>【待插入图片】</a:t>
            </a:r>
          </a:p>
          <a:p>
            <a:pPr algn="ctr"/>
            <a:r>
              <a:rPr sz="1200" b="0">
                <a:solidFill>
                  <a:srgbClr val="F0B429"/>
                </a:solidFill>
                <a:latin typeface="Microsoft YaHei"/>
                <a:ea typeface="Microsoft YaHei"/>
              </a:rPr>
              <a:t>功能截图：引力坍缩 / 碎裂过程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34440"/>
            <a:ext cx="5486400" cy="2194560"/>
          </a:xfrm>
          <a:prstGeom prst="roundRect">
            <a:avLst/>
          </a:prstGeom>
          <a:solidFill>
            <a:srgbClr val="1A3348"/>
          </a:solidFill>
          <a:ln w="19050">
            <a:solidFill>
              <a:srgbClr val="F0B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920239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0B429"/>
                </a:solidFill>
                <a:latin typeface="Microsoft YaHei"/>
                <a:ea typeface="Microsoft YaHei"/>
              </a:rPr>
              <a:t>【待插入图片】</a:t>
            </a:r>
          </a:p>
          <a:p>
            <a:pPr algn="ctr"/>
            <a:r>
              <a:rPr sz="1200" b="0">
                <a:solidFill>
                  <a:srgbClr val="F0B429"/>
                </a:solidFill>
                <a:latin typeface="Microsoft YaHei"/>
                <a:ea typeface="Microsoft YaHei"/>
              </a:rPr>
              <a:t>功能截图：原恒星与盘结构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657600"/>
            <a:ext cx="5486400" cy="2331720"/>
          </a:xfrm>
          <a:prstGeom prst="roundRect">
            <a:avLst/>
          </a:prstGeom>
          <a:solidFill>
            <a:srgbClr val="1A3348"/>
          </a:solidFill>
          <a:ln w="19050">
            <a:solidFill>
              <a:srgbClr val="F0B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4411980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0B429"/>
                </a:solidFill>
                <a:latin typeface="Microsoft YaHei"/>
                <a:ea typeface="Microsoft YaHei"/>
              </a:rPr>
              <a:t>【待插入图片】</a:t>
            </a:r>
          </a:p>
          <a:p>
            <a:pPr algn="ctr"/>
            <a:r>
              <a:rPr sz="1200" b="0">
                <a:solidFill>
                  <a:srgbClr val="F0B429"/>
                </a:solidFill>
                <a:latin typeface="Microsoft YaHei"/>
                <a:ea typeface="Microsoft YaHei"/>
              </a:rPr>
              <a:t>功能截图：反馈机制 / 结果对比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B8C8"/>
                </a:solidFill>
                <a:latin typeface="Microsoft YaHei"/>
                <a:ea typeface="Microsoft YaHei"/>
              </a:rPr>
              <a:t>恒星形成模拟器 · 结题答辩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8B8C8"/>
                </a:solidFill>
                <a:latin typeface="Microsoft YaHei"/>
                <a:ea typeface="Microsoft YaHei"/>
              </a:rPr>
              <a:t>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0040"/>
            <a:ext cx="109728" cy="50292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9260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5F7FA"/>
                </a:solidFill>
                <a:latin typeface="Microsoft YaHei"/>
                <a:ea typeface="Microsoft YaHei"/>
              </a:rPr>
              <a:t>五、网站制作过程</a:t>
            </a:r>
          </a:p>
        </p:txBody>
      </p:sp>
      <p:pic>
        <p:nvPicPr>
          <p:cNvPr id="5" name="Picture 4" descr="03_website_dev_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11430000" cy="5212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B8C8"/>
                </a:solidFill>
                <a:latin typeface="Microsoft YaHei"/>
                <a:ea typeface="Microsoft YaHei"/>
              </a:rPr>
              <a:t>恒星形成模拟器 · 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8B8C8"/>
                </a:solidFill>
                <a:latin typeface="Microsoft YaHei"/>
                <a:ea typeface="Microsoft YaHei"/>
              </a:rP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0040"/>
            <a:ext cx="109728" cy="50292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9260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5F7FA"/>
                </a:solidFill>
                <a:latin typeface="Microsoft YaHei"/>
                <a:ea typeface="Microsoft YaHei"/>
              </a:rPr>
              <a:t>五、网站制作过程图片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8B8C8"/>
                </a:solidFill>
                <a:latin typeface="Microsoft YaHei"/>
                <a:ea typeface="Microsoft YaHei"/>
              </a:rPr>
              <a:t>请替换为设计稿、编码界面、调试与部署照片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3611880" cy="2286000"/>
          </a:xfrm>
          <a:prstGeom prst="roundRect">
            <a:avLst/>
          </a:prstGeom>
          <a:solidFill>
            <a:srgbClr val="1A3348"/>
          </a:solidFill>
          <a:ln w="19050">
            <a:solidFill>
              <a:srgbClr val="F0B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65960"/>
            <a:ext cx="3337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0B429"/>
                </a:solidFill>
                <a:latin typeface="Microsoft YaHei"/>
                <a:ea typeface="Microsoft YaHei"/>
              </a:rPr>
              <a:t>【待插入图片】</a:t>
            </a:r>
          </a:p>
          <a:p>
            <a:pPr algn="ctr"/>
            <a:r>
              <a:rPr sz="1200" b="0">
                <a:solidFill>
                  <a:srgbClr val="F0B429"/>
                </a:solidFill>
                <a:latin typeface="Microsoft YaHei"/>
                <a:ea typeface="Microsoft YaHei"/>
              </a:rPr>
              <a:t>线框 / UI 设计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234440"/>
            <a:ext cx="3611880" cy="2286000"/>
          </a:xfrm>
          <a:prstGeom prst="roundRect">
            <a:avLst/>
          </a:prstGeom>
          <a:solidFill>
            <a:srgbClr val="1A3348"/>
          </a:solidFill>
          <a:ln w="19050">
            <a:solidFill>
              <a:srgbClr val="F0B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965960"/>
            <a:ext cx="3337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0B429"/>
                </a:solidFill>
                <a:latin typeface="Microsoft YaHei"/>
                <a:ea typeface="Microsoft YaHei"/>
              </a:rPr>
              <a:t>【待插入图片】</a:t>
            </a:r>
          </a:p>
          <a:p>
            <a:pPr algn="ctr"/>
            <a:r>
              <a:rPr sz="1200" b="0">
                <a:solidFill>
                  <a:srgbClr val="F0B429"/>
                </a:solidFill>
                <a:latin typeface="Microsoft YaHei"/>
                <a:ea typeface="Microsoft YaHei"/>
              </a:rPr>
              <a:t>前端开发界面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80" y="1234440"/>
            <a:ext cx="3611880" cy="2286000"/>
          </a:xfrm>
          <a:prstGeom prst="roundRect">
            <a:avLst/>
          </a:prstGeom>
          <a:solidFill>
            <a:srgbClr val="1A3348"/>
          </a:solidFill>
          <a:ln w="19050">
            <a:solidFill>
              <a:srgbClr val="F0B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965960"/>
            <a:ext cx="3337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0B429"/>
                </a:solidFill>
                <a:latin typeface="Microsoft YaHei"/>
                <a:ea typeface="Microsoft YaHei"/>
              </a:rPr>
              <a:t>【待插入图片】</a:t>
            </a:r>
          </a:p>
          <a:p>
            <a:pPr algn="ctr"/>
            <a:r>
              <a:rPr sz="1200" b="0">
                <a:solidFill>
                  <a:srgbClr val="F0B429"/>
                </a:solidFill>
                <a:latin typeface="Microsoft YaHei"/>
                <a:ea typeface="Microsoft YaHei"/>
              </a:rPr>
              <a:t>仿真效果调试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794760"/>
            <a:ext cx="3611880" cy="2286000"/>
          </a:xfrm>
          <a:prstGeom prst="roundRect">
            <a:avLst/>
          </a:prstGeom>
          <a:solidFill>
            <a:srgbClr val="1A3348"/>
          </a:solidFill>
          <a:ln w="19050">
            <a:solidFill>
              <a:srgbClr val="F0B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526280"/>
            <a:ext cx="3337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0B429"/>
                </a:solidFill>
                <a:latin typeface="Microsoft YaHei"/>
                <a:ea typeface="Microsoft YaHei"/>
              </a:rPr>
              <a:t>【待插入图片】</a:t>
            </a:r>
          </a:p>
          <a:p>
            <a:pPr algn="ctr"/>
            <a:r>
              <a:rPr sz="1200" b="0">
                <a:solidFill>
                  <a:srgbClr val="F0B429"/>
                </a:solidFill>
                <a:latin typeface="Microsoft YaHei"/>
                <a:ea typeface="Microsoft YaHei"/>
              </a:rPr>
              <a:t>功能联调记录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3794760"/>
            <a:ext cx="3611880" cy="2286000"/>
          </a:xfrm>
          <a:prstGeom prst="roundRect">
            <a:avLst/>
          </a:prstGeom>
          <a:solidFill>
            <a:srgbClr val="1A3348"/>
          </a:solidFill>
          <a:ln w="19050">
            <a:solidFill>
              <a:srgbClr val="F0B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4526280"/>
            <a:ext cx="3337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0B429"/>
                </a:solidFill>
                <a:latin typeface="Microsoft YaHei"/>
                <a:ea typeface="Microsoft YaHei"/>
              </a:rPr>
              <a:t>【待插入图片】</a:t>
            </a:r>
          </a:p>
          <a:p>
            <a:pPr algn="ctr"/>
            <a:r>
              <a:rPr sz="1200" b="0">
                <a:solidFill>
                  <a:srgbClr val="F0B429"/>
                </a:solidFill>
                <a:latin typeface="Microsoft YaHei"/>
                <a:ea typeface="Microsoft YaHei"/>
              </a:rPr>
              <a:t>移动端 / 演示适配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80" y="3794760"/>
            <a:ext cx="3611880" cy="2286000"/>
          </a:xfrm>
          <a:prstGeom prst="roundRect">
            <a:avLst/>
          </a:prstGeom>
          <a:solidFill>
            <a:srgbClr val="1A3348"/>
          </a:solidFill>
          <a:ln w="19050">
            <a:solidFill>
              <a:srgbClr val="F0B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4526280"/>
            <a:ext cx="3337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0B429"/>
                </a:solidFill>
                <a:latin typeface="Microsoft YaHei"/>
                <a:ea typeface="Microsoft YaHei"/>
              </a:rPr>
              <a:t>【待插入图片】</a:t>
            </a:r>
          </a:p>
          <a:p>
            <a:pPr algn="ctr"/>
            <a:r>
              <a:rPr sz="1200" b="0">
                <a:solidFill>
                  <a:srgbClr val="F0B429"/>
                </a:solidFill>
                <a:latin typeface="Microsoft YaHei"/>
                <a:ea typeface="Microsoft YaHei"/>
              </a:rPr>
              <a:t>版本迭代对比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B8C8"/>
                </a:solidFill>
                <a:latin typeface="Microsoft YaHei"/>
                <a:ea typeface="Microsoft YaHei"/>
              </a:rPr>
              <a:t>恒星形成模拟器 · 结题答辩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8B8C8"/>
                </a:solidFill>
                <a:latin typeface="Microsoft YaHei"/>
                <a:ea typeface="Microsoft YaHei"/>
              </a:rP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0040"/>
            <a:ext cx="109728" cy="50292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9260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5F7FA"/>
                </a:solidFill>
                <a:latin typeface="Microsoft YaHei"/>
                <a:ea typeface="Microsoft YaHei"/>
              </a:rPr>
              <a:t>六、硬件接线图</a:t>
            </a:r>
          </a:p>
        </p:txBody>
      </p:sp>
      <p:pic>
        <p:nvPicPr>
          <p:cNvPr id="5" name="Picture 4" descr="04_wiring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05840"/>
            <a:ext cx="11521440" cy="5212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B8C8"/>
                </a:solidFill>
                <a:latin typeface="Microsoft YaHei"/>
                <a:ea typeface="Microsoft YaHei"/>
              </a:rPr>
              <a:t>恒星形成模拟器 · 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8B8C8"/>
                </a:solidFill>
                <a:latin typeface="Microsoft YaHei"/>
                <a:ea typeface="Microsoft YaHei"/>
              </a:rP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0040"/>
            <a:ext cx="109728" cy="50292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9260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5F7FA"/>
                </a:solidFill>
                <a:latin typeface="Microsoft YaHei"/>
                <a:ea typeface="Microsoft YaHei"/>
              </a:rPr>
              <a:t>六、实际接线与实物对照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8B8C8"/>
                </a:solidFill>
                <a:latin typeface="Microsoft YaHei"/>
                <a:ea typeface="Microsoft YaHei"/>
              </a:rPr>
              <a:t>请插入真实接线图 / 面包板 / PCB 照片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486400" cy="4754880"/>
          </a:xfrm>
          <a:prstGeom prst="roundRect">
            <a:avLst/>
          </a:prstGeom>
          <a:solidFill>
            <a:srgbClr val="1A3348"/>
          </a:solidFill>
          <a:ln w="19050">
            <a:solidFill>
              <a:srgbClr val="F0B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200400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0B429"/>
                </a:solidFill>
                <a:latin typeface="Microsoft YaHei"/>
                <a:ea typeface="Microsoft YaHei"/>
              </a:rPr>
              <a:t>【待插入图片】</a:t>
            </a:r>
          </a:p>
          <a:p>
            <a:pPr algn="ctr"/>
            <a:r>
              <a:rPr sz="1200" b="0">
                <a:solidFill>
                  <a:srgbClr val="F0B429"/>
                </a:solidFill>
                <a:latin typeface="Microsoft YaHei"/>
                <a:ea typeface="Microsoft YaHei"/>
              </a:rPr>
              <a:t>实物接线图 / 焊接细节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34440"/>
            <a:ext cx="5486400" cy="4754880"/>
          </a:xfrm>
          <a:prstGeom prst="roundRect">
            <a:avLst/>
          </a:prstGeom>
          <a:solidFill>
            <a:srgbClr val="1A3348"/>
          </a:solidFill>
          <a:ln w="19050">
            <a:solidFill>
              <a:srgbClr val="F0B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3200400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0B429"/>
                </a:solidFill>
                <a:latin typeface="Microsoft YaHei"/>
                <a:ea typeface="Microsoft YaHei"/>
              </a:rPr>
              <a:t>【待插入图片】</a:t>
            </a:r>
          </a:p>
          <a:p>
            <a:pPr algn="ctr"/>
            <a:r>
              <a:rPr sz="1200" b="0">
                <a:solidFill>
                  <a:srgbClr val="F0B429"/>
                </a:solidFill>
                <a:latin typeface="Microsoft YaHei"/>
                <a:ea typeface="Microsoft YaHei"/>
              </a:rPr>
              <a:t>手套内部走线与模块布局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B8C8"/>
                </a:solidFill>
                <a:latin typeface="Microsoft YaHei"/>
                <a:ea typeface="Microsoft YaHei"/>
              </a:rPr>
              <a:t>恒星形成模拟器 · 结题答辩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8B8C8"/>
                </a:solidFill>
                <a:latin typeface="Microsoft YaHei"/>
                <a:ea typeface="Microsoft YaHei"/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0040"/>
            <a:ext cx="109728" cy="50292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9260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5F7FA"/>
                </a:solidFill>
                <a:latin typeface="Microsoft YaHei"/>
                <a:ea typeface="Microsoft YaHei"/>
              </a:rPr>
              <a:t>六、流程图汇总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F5F7FA"/>
                </a:solidFill>
                <a:latin typeface="Microsoft YaHei"/>
                <a:ea typeface="Microsoft YaHei"/>
              </a:rPr>
              <a:t>●  系统架构图：手套 → 主控通信 → 网站仿真反馈。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F5F7FA"/>
                </a:solidFill>
                <a:latin typeface="Microsoft YaHei"/>
                <a:ea typeface="Microsoft YaHei"/>
              </a:rPr>
              <a:t>●  网站交互流程：进入场景 → 调参 → 仿真 → 手势操控。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F5F7FA"/>
                </a:solidFill>
                <a:latin typeface="Microsoft YaHei"/>
                <a:ea typeface="Microsoft YaHei"/>
              </a:rPr>
              <a:t>●  手套制作流程：选材 → 固定传感 → 组装 → 固件 → 联调。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F5F7FA"/>
                </a:solidFill>
                <a:latin typeface="Microsoft YaHei"/>
                <a:ea typeface="Microsoft YaHei"/>
              </a:rPr>
              <a:t>●  测试流程：硬件自检 → 标定 → 识别 → 延迟与联调验证。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B8C8"/>
                </a:solidFill>
                <a:latin typeface="Microsoft YaHei"/>
                <a:ea typeface="Microsoft YaHei"/>
              </a:rPr>
              <a:t>恒星形成模拟器 · 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8B8C8"/>
                </a:solidFill>
                <a:latin typeface="Microsoft YaHei"/>
                <a:ea typeface="Microsoft YaHei"/>
              </a:rP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0040"/>
            <a:ext cx="109728" cy="50292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9260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5F7FA"/>
                </a:solidFill>
                <a:latin typeface="Microsoft YaHei"/>
                <a:ea typeface="Microsoft YaHei"/>
              </a:rPr>
              <a:t>七、互动手套制作过程</a:t>
            </a:r>
          </a:p>
        </p:txBody>
      </p:sp>
      <p:pic>
        <p:nvPicPr>
          <p:cNvPr id="5" name="Picture 4" descr="05_glove_build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11430000" cy="5212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B8C8"/>
                </a:solidFill>
                <a:latin typeface="Microsoft YaHei"/>
                <a:ea typeface="Microsoft YaHei"/>
              </a:rPr>
              <a:t>恒星形成模拟器 · 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8B8C8"/>
                </a:solidFill>
                <a:latin typeface="Microsoft YaHei"/>
                <a:ea typeface="Microsoft YaHei"/>
              </a:rP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0040"/>
            <a:ext cx="109728" cy="50292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9260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5F7FA"/>
                </a:solidFill>
                <a:latin typeface="Microsoft YaHei"/>
                <a:ea typeface="Microsoft YaHei"/>
              </a:rPr>
              <a:t>七、手套制作过程与结果图片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8B8C8"/>
                </a:solidFill>
                <a:latin typeface="Microsoft YaHei"/>
                <a:ea typeface="Microsoft YaHei"/>
              </a:rPr>
              <a:t>请替换为制作过程实拍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3611880" cy="2286000"/>
          </a:xfrm>
          <a:prstGeom prst="roundRect">
            <a:avLst/>
          </a:prstGeom>
          <a:solidFill>
            <a:srgbClr val="1A3348"/>
          </a:solidFill>
          <a:ln w="19050">
            <a:solidFill>
              <a:srgbClr val="F0B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65960"/>
            <a:ext cx="3337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0B429"/>
                </a:solidFill>
                <a:latin typeface="Microsoft YaHei"/>
                <a:ea typeface="Microsoft YaHei"/>
              </a:rPr>
              <a:t>【待插入图片】</a:t>
            </a:r>
          </a:p>
          <a:p>
            <a:pPr algn="ctr"/>
            <a:r>
              <a:rPr sz="1200" b="0">
                <a:solidFill>
                  <a:srgbClr val="F0B429"/>
                </a:solidFill>
                <a:latin typeface="Microsoft YaHei"/>
                <a:ea typeface="Microsoft YaHei"/>
              </a:rPr>
              <a:t>材料准备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234440"/>
            <a:ext cx="3611880" cy="2286000"/>
          </a:xfrm>
          <a:prstGeom prst="roundRect">
            <a:avLst/>
          </a:prstGeom>
          <a:solidFill>
            <a:srgbClr val="1A3348"/>
          </a:solidFill>
          <a:ln w="19050">
            <a:solidFill>
              <a:srgbClr val="F0B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965960"/>
            <a:ext cx="3337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0B429"/>
                </a:solidFill>
                <a:latin typeface="Microsoft YaHei"/>
                <a:ea typeface="Microsoft YaHei"/>
              </a:rPr>
              <a:t>【待插入图片】</a:t>
            </a:r>
          </a:p>
          <a:p>
            <a:pPr algn="ctr"/>
            <a:r>
              <a:rPr sz="1200" b="0">
                <a:solidFill>
                  <a:srgbClr val="F0B429"/>
                </a:solidFill>
                <a:latin typeface="Microsoft YaHei"/>
                <a:ea typeface="Microsoft YaHei"/>
              </a:rPr>
              <a:t>传感器固定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80" y="1234440"/>
            <a:ext cx="3611880" cy="2286000"/>
          </a:xfrm>
          <a:prstGeom prst="roundRect">
            <a:avLst/>
          </a:prstGeom>
          <a:solidFill>
            <a:srgbClr val="1A3348"/>
          </a:solidFill>
          <a:ln w="19050">
            <a:solidFill>
              <a:srgbClr val="F0B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965960"/>
            <a:ext cx="3337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0B429"/>
                </a:solidFill>
                <a:latin typeface="Microsoft YaHei"/>
                <a:ea typeface="Microsoft YaHei"/>
              </a:rPr>
              <a:t>【待插入图片】</a:t>
            </a:r>
          </a:p>
          <a:p>
            <a:pPr algn="ctr"/>
            <a:r>
              <a:rPr sz="1200" b="0">
                <a:solidFill>
                  <a:srgbClr val="F0B429"/>
                </a:solidFill>
                <a:latin typeface="Microsoft YaHei"/>
                <a:ea typeface="Microsoft YaHei"/>
              </a:rPr>
              <a:t>主控与姿态模块安装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794760"/>
            <a:ext cx="3611880" cy="2286000"/>
          </a:xfrm>
          <a:prstGeom prst="roundRect">
            <a:avLst/>
          </a:prstGeom>
          <a:solidFill>
            <a:srgbClr val="1A3348"/>
          </a:solidFill>
          <a:ln w="19050">
            <a:solidFill>
              <a:srgbClr val="F0B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526280"/>
            <a:ext cx="3337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0B429"/>
                </a:solidFill>
                <a:latin typeface="Microsoft YaHei"/>
                <a:ea typeface="Microsoft YaHei"/>
              </a:rPr>
              <a:t>【待插入图片】</a:t>
            </a:r>
          </a:p>
          <a:p>
            <a:pPr algn="ctr"/>
            <a:r>
              <a:rPr sz="1200" b="0">
                <a:solidFill>
                  <a:srgbClr val="F0B429"/>
                </a:solidFill>
                <a:latin typeface="Microsoft YaHei"/>
                <a:ea typeface="Microsoft YaHei"/>
              </a:rPr>
              <a:t>走线与供电封装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3794760"/>
            <a:ext cx="3611880" cy="2286000"/>
          </a:xfrm>
          <a:prstGeom prst="roundRect">
            <a:avLst/>
          </a:prstGeom>
          <a:solidFill>
            <a:srgbClr val="1A3348"/>
          </a:solidFill>
          <a:ln w="19050">
            <a:solidFill>
              <a:srgbClr val="F0B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4526280"/>
            <a:ext cx="3337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0B429"/>
                </a:solidFill>
                <a:latin typeface="Microsoft YaHei"/>
                <a:ea typeface="Microsoft YaHei"/>
              </a:rPr>
              <a:t>【待插入图片】</a:t>
            </a:r>
          </a:p>
          <a:p>
            <a:pPr algn="ctr"/>
            <a:r>
              <a:rPr sz="1200" b="0">
                <a:solidFill>
                  <a:srgbClr val="F0B429"/>
                </a:solidFill>
                <a:latin typeface="Microsoft YaHei"/>
                <a:ea typeface="Microsoft YaHei"/>
              </a:rPr>
              <a:t>成品正面 / 佩戴效果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80" y="3794760"/>
            <a:ext cx="3611880" cy="2286000"/>
          </a:xfrm>
          <a:prstGeom prst="roundRect">
            <a:avLst/>
          </a:prstGeom>
          <a:solidFill>
            <a:srgbClr val="1A3348"/>
          </a:solidFill>
          <a:ln w="19050">
            <a:solidFill>
              <a:srgbClr val="F0B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4526280"/>
            <a:ext cx="3337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0B429"/>
                </a:solidFill>
                <a:latin typeface="Microsoft YaHei"/>
                <a:ea typeface="Microsoft YaHei"/>
              </a:rPr>
              <a:t>【待插入图片】</a:t>
            </a:r>
          </a:p>
          <a:p>
            <a:pPr algn="ctr"/>
            <a:r>
              <a:rPr sz="1200" b="0">
                <a:solidFill>
                  <a:srgbClr val="F0B429"/>
                </a:solidFill>
                <a:latin typeface="Microsoft YaHei"/>
                <a:ea typeface="Microsoft YaHei"/>
              </a:rPr>
              <a:t>与电脑联调现场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B8C8"/>
                </a:solidFill>
                <a:latin typeface="Microsoft YaHei"/>
                <a:ea typeface="Microsoft YaHei"/>
              </a:rPr>
              <a:t>恒星形成模拟器 · 结题答辩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8B8C8"/>
                </a:solidFill>
                <a:latin typeface="Microsoft YaHei"/>
                <a:ea typeface="Microsoft YaHei"/>
              </a:rP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0040"/>
            <a:ext cx="109728" cy="50292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9260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5F7FA"/>
                </a:solidFill>
                <a:latin typeface="Microsoft YaHei"/>
                <a:ea typeface="Microsoft YaHei"/>
              </a:rPr>
              <a:t>七、制作结果说明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5394960" cy="4389120"/>
          </a:xfrm>
          <a:prstGeom prst="roundRect">
            <a:avLst/>
          </a:prstGeom>
          <a:solidFill>
            <a:srgbClr val="132A40"/>
          </a:solidFill>
          <a:ln w="15875">
            <a:solidFill>
              <a:srgbClr val="F0B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508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0B429"/>
                </a:solidFill>
                <a:latin typeface="Microsoft YaHei"/>
                <a:ea typeface="Microsoft YaHei"/>
              </a:rPr>
              <a:t>硬件结果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1874519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Microsoft YaHei"/>
                <a:ea typeface="Microsoft YaHei"/>
              </a:rPr>
              <a:t>· 完成可穿戴交互手套样机</a:t>
            </a:r>
          </a:p>
          <a:p>
            <a:pPr algn="l"/>
            <a:r>
              <a:rPr sz="1300" b="0">
                <a:solidFill>
                  <a:srgbClr val="F5F7FA"/>
                </a:solidFill>
                <a:latin typeface="Microsoft YaHei"/>
                <a:ea typeface="Microsoft YaHei"/>
              </a:rPr>
              <a:t>· 集成多路弯曲传感与姿态模块</a:t>
            </a:r>
          </a:p>
          <a:p>
            <a:pPr algn="l"/>
            <a:r>
              <a:rPr sz="1300" b="0">
                <a:solidFill>
                  <a:srgbClr val="F5F7FA"/>
                </a:solidFill>
                <a:latin typeface="Microsoft YaHei"/>
                <a:ea typeface="Microsoft YaHei"/>
              </a:rPr>
              <a:t>· 实现无线/串口数据上传</a:t>
            </a:r>
          </a:p>
          <a:p>
            <a:pPr algn="l"/>
            <a:r>
              <a:rPr sz="1300" b="0">
                <a:solidFill>
                  <a:srgbClr val="F5F7FA"/>
                </a:solidFill>
                <a:latin typeface="Microsoft YaHei"/>
                <a:ea typeface="Microsoft YaHei"/>
              </a:rPr>
              <a:t>· 外观满足演示佩戴需求</a:t>
            </a:r>
          </a:p>
          <a:p>
            <a:pPr algn="l"/>
            <a:r>
              <a:rPr sz="1300" b="0">
                <a:solidFill>
                  <a:srgbClr val="F5F7FA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300" b="0">
                <a:solidFill>
                  <a:srgbClr val="F5F7FA"/>
                </a:solidFill>
                <a:latin typeface="Microsoft YaHei"/>
                <a:ea typeface="Microsoft YaHei"/>
              </a:rPr>
              <a:t>（可在此补充尺寸、功耗、续航等实测数据）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371600"/>
            <a:ext cx="5394960" cy="4389120"/>
          </a:xfrm>
          <a:prstGeom prst="roundRect">
            <a:avLst/>
          </a:prstGeom>
          <a:solidFill>
            <a:srgbClr val="132A40"/>
          </a:solidFill>
          <a:ln w="15875">
            <a:solidFill>
              <a:srgbClr val="4EC3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508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EC3D8"/>
                </a:solidFill>
                <a:latin typeface="Microsoft YaHei"/>
                <a:ea typeface="Microsoft YaHei"/>
              </a:rPr>
              <a:t>软件 / 映射结果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874519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Microsoft YaHei"/>
                <a:ea typeface="Microsoft YaHei"/>
              </a:rPr>
              <a:t>· 完成手势指令集定义</a:t>
            </a:r>
          </a:p>
          <a:p>
            <a:pPr algn="l"/>
            <a:r>
              <a:rPr sz="1300" b="0">
                <a:solidFill>
                  <a:srgbClr val="F5F7FA"/>
                </a:solidFill>
                <a:latin typeface="Microsoft YaHei"/>
                <a:ea typeface="Microsoft YaHei"/>
              </a:rPr>
              <a:t>· 弯曲量归一化与阈值判定</a:t>
            </a:r>
          </a:p>
          <a:p>
            <a:pPr algn="l"/>
            <a:r>
              <a:rPr sz="1300" b="0">
                <a:solidFill>
                  <a:srgbClr val="F5F7FA"/>
                </a:solidFill>
                <a:latin typeface="Microsoft YaHei"/>
                <a:ea typeface="Microsoft YaHei"/>
              </a:rPr>
              <a:t>· 手势映射到网站控制事件</a:t>
            </a:r>
          </a:p>
          <a:p>
            <a:pPr algn="l"/>
            <a:r>
              <a:rPr sz="1300" b="0">
                <a:solidFill>
                  <a:srgbClr val="F5F7FA"/>
                </a:solidFill>
                <a:latin typeface="Microsoft YaHei"/>
                <a:ea typeface="Microsoft YaHei"/>
              </a:rPr>
              <a:t>· 形成可重复演示流程</a:t>
            </a:r>
          </a:p>
          <a:p>
            <a:pPr algn="l"/>
            <a:r>
              <a:rPr sz="1300" b="0">
                <a:solidFill>
                  <a:srgbClr val="F5F7FA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300" b="0">
                <a:solidFill>
                  <a:srgbClr val="F5F7FA"/>
                </a:solidFill>
                <a:latin typeface="Microsoft YaHei"/>
                <a:ea typeface="Microsoft YaHei"/>
              </a:rPr>
              <a:t>（可补充手势表：握拳=开始、张开=重置、倾斜=调参等）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B8C8"/>
                </a:solidFill>
                <a:latin typeface="Microsoft YaHei"/>
                <a:ea typeface="Microsoft YaHei"/>
              </a:rPr>
              <a:t>恒星形成模拟器 · 结题答辩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8B8C8"/>
                </a:solidFill>
                <a:latin typeface="Microsoft YaHei"/>
                <a:ea typeface="Microsoft YaHei"/>
              </a:rP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0040"/>
            <a:ext cx="109728" cy="50292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9260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5F7FA"/>
                </a:solidFill>
                <a:latin typeface="Microsoft YaHei"/>
                <a:ea typeface="Microsoft YaHei"/>
              </a:rPr>
              <a:t>八、智能手套功能测试</a:t>
            </a:r>
          </a:p>
        </p:txBody>
      </p:sp>
      <p:pic>
        <p:nvPicPr>
          <p:cNvPr id="5" name="Picture 4" descr="06_test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11430000" cy="5212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B8C8"/>
                </a:solidFill>
                <a:latin typeface="Microsoft YaHei"/>
                <a:ea typeface="Microsoft YaHei"/>
              </a:rPr>
              <a:t>恒星形成模拟器 · 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8B8C8"/>
                </a:solidFill>
                <a:latin typeface="Microsoft YaHei"/>
                <a:ea typeface="Microsoft YaHei"/>
              </a:rP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0040"/>
            <a:ext cx="109728" cy="50292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9260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5F7FA"/>
                </a:solidFill>
                <a:latin typeface="Microsoft YaHei"/>
                <a:ea typeface="Microsoft YaHei"/>
              </a:rPr>
              <a:t>八、测试内容与结果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A8B8C8"/>
                </a:solidFill>
                <a:latin typeface="Microsoft YaHei"/>
                <a:ea typeface="Microsoft YaHei"/>
              </a:rPr>
              <a:t>请按实测数据更新表格数值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2788920" cy="50292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53312"/>
            <a:ext cx="2788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B1B2B"/>
                </a:solidFill>
                <a:latin typeface="Microsoft YaHei"/>
                <a:ea typeface="Microsoft YaHei"/>
              </a:rPr>
              <a:t>测试项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1280160"/>
            <a:ext cx="2788920" cy="50292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1353312"/>
            <a:ext cx="2788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B1B2B"/>
                </a:solidFill>
                <a:latin typeface="Microsoft YaHei"/>
                <a:ea typeface="Microsoft YaHei"/>
              </a:rPr>
              <a:t>方法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280160"/>
            <a:ext cx="2788920" cy="50292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353312"/>
            <a:ext cx="2788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B1B2B"/>
                </a:solidFill>
                <a:latin typeface="Microsoft YaHei"/>
                <a:ea typeface="Microsoft YaHei"/>
              </a:rPr>
              <a:t>预期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1280160"/>
            <a:ext cx="2788920" cy="50292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1353312"/>
            <a:ext cx="2788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B1B2B"/>
                </a:solidFill>
                <a:latin typeface="Microsoft YaHei"/>
                <a:ea typeface="Microsoft YaHei"/>
              </a:rPr>
              <a:t>结果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874519"/>
            <a:ext cx="2788920" cy="713232"/>
          </a:xfrm>
          <a:prstGeom prst="rect">
            <a:avLst/>
          </a:prstGeom>
          <a:solidFill>
            <a:srgbClr val="132A40"/>
          </a:solidFill>
          <a:ln>
            <a:solidFill>
              <a:srgbClr val="20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" y="205740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5F7FA"/>
                </a:solidFill>
                <a:latin typeface="Microsoft YaHei"/>
                <a:ea typeface="Microsoft YaHei"/>
              </a:rPr>
              <a:t>单指弯曲响应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1874519"/>
            <a:ext cx="2788920" cy="713232"/>
          </a:xfrm>
          <a:prstGeom prst="rect">
            <a:avLst/>
          </a:prstGeom>
          <a:solidFill>
            <a:srgbClr val="132A40"/>
          </a:solidFill>
          <a:ln>
            <a:solidFill>
              <a:srgbClr val="20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6432" y="205740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5F7FA"/>
                </a:solidFill>
                <a:latin typeface="Microsoft YaHei"/>
                <a:ea typeface="Microsoft YaHei"/>
              </a:rPr>
              <a:t>逐指弯曲采集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1874519"/>
            <a:ext cx="2788920" cy="713232"/>
          </a:xfrm>
          <a:prstGeom prst="rect">
            <a:avLst/>
          </a:prstGeom>
          <a:solidFill>
            <a:srgbClr val="132A40"/>
          </a:solidFill>
          <a:ln>
            <a:solidFill>
              <a:srgbClr val="20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6792" y="205740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5F7FA"/>
                </a:solidFill>
                <a:latin typeface="Microsoft YaHei"/>
                <a:ea typeface="Microsoft YaHei"/>
              </a:rPr>
              <a:t>曲线单调可分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0" y="1874519"/>
            <a:ext cx="2788920" cy="713232"/>
          </a:xfrm>
          <a:prstGeom prst="rect">
            <a:avLst/>
          </a:prstGeom>
          <a:solidFill>
            <a:srgbClr val="132A40"/>
          </a:solidFill>
          <a:ln>
            <a:solidFill>
              <a:srgbClr val="20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17152" y="205740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5F7FA"/>
                </a:solidFill>
                <a:latin typeface="Microsoft YaHei"/>
                <a:ea typeface="Microsoft YaHei"/>
              </a:rPr>
              <a:t>☐ 通过 / 数据：___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651760"/>
            <a:ext cx="2788920" cy="713232"/>
          </a:xfrm>
          <a:prstGeom prst="rect">
            <a:avLst/>
          </a:prstGeom>
          <a:solidFill>
            <a:srgbClr val="1A3348"/>
          </a:solidFill>
          <a:ln>
            <a:solidFill>
              <a:srgbClr val="20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72" y="283464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5F7FA"/>
                </a:solidFill>
                <a:latin typeface="Microsoft YaHei"/>
                <a:ea typeface="Microsoft YaHei"/>
              </a:rPr>
              <a:t>典型手势识别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83280" y="2651760"/>
            <a:ext cx="2788920" cy="713232"/>
          </a:xfrm>
          <a:prstGeom prst="rect">
            <a:avLst/>
          </a:prstGeom>
          <a:solidFill>
            <a:srgbClr val="1A3348"/>
          </a:solidFill>
          <a:ln>
            <a:solidFill>
              <a:srgbClr val="20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56432" y="283464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5F7FA"/>
                </a:solidFill>
                <a:latin typeface="Microsoft YaHei"/>
                <a:ea typeface="Microsoft YaHei"/>
              </a:rPr>
              <a:t>握拳/张开/指向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2651760"/>
            <a:ext cx="2788920" cy="713232"/>
          </a:xfrm>
          <a:prstGeom prst="rect">
            <a:avLst/>
          </a:prstGeom>
          <a:solidFill>
            <a:srgbClr val="1A3348"/>
          </a:solidFill>
          <a:ln>
            <a:solidFill>
              <a:srgbClr val="20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36792" y="283464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5F7FA"/>
                </a:solidFill>
                <a:latin typeface="Microsoft YaHei"/>
                <a:ea typeface="Microsoft YaHei"/>
              </a:rPr>
              <a:t>识别稳定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0" y="2651760"/>
            <a:ext cx="2788920" cy="713232"/>
          </a:xfrm>
          <a:prstGeom prst="rect">
            <a:avLst/>
          </a:prstGeom>
          <a:solidFill>
            <a:srgbClr val="1A3348"/>
          </a:solidFill>
          <a:ln>
            <a:solidFill>
              <a:srgbClr val="20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17152" y="283464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5F7FA"/>
                </a:solidFill>
                <a:latin typeface="Microsoft YaHei"/>
                <a:ea typeface="Microsoft YaHei"/>
              </a:rPr>
              <a:t>☐ 通过 / 准确率：___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429000"/>
            <a:ext cx="2788920" cy="713232"/>
          </a:xfrm>
          <a:prstGeom prst="rect">
            <a:avLst/>
          </a:prstGeom>
          <a:solidFill>
            <a:srgbClr val="132A40"/>
          </a:solidFill>
          <a:ln>
            <a:solidFill>
              <a:srgbClr val="20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6072" y="36118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5F7FA"/>
                </a:solidFill>
                <a:latin typeface="Microsoft YaHei"/>
                <a:ea typeface="Microsoft YaHei"/>
              </a:rPr>
              <a:t>通信延迟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83280" y="3429000"/>
            <a:ext cx="2788920" cy="713232"/>
          </a:xfrm>
          <a:prstGeom prst="rect">
            <a:avLst/>
          </a:prstGeom>
          <a:solidFill>
            <a:srgbClr val="132A40"/>
          </a:solidFill>
          <a:ln>
            <a:solidFill>
              <a:srgbClr val="20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56432" y="36118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5F7FA"/>
                </a:solidFill>
                <a:latin typeface="Microsoft YaHei"/>
                <a:ea typeface="Microsoft YaHei"/>
              </a:rPr>
              <a:t>指令到画面响应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63640" y="3429000"/>
            <a:ext cx="2788920" cy="713232"/>
          </a:xfrm>
          <a:prstGeom prst="rect">
            <a:avLst/>
          </a:prstGeom>
          <a:solidFill>
            <a:srgbClr val="132A40"/>
          </a:solidFill>
          <a:ln>
            <a:solidFill>
              <a:srgbClr val="20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36792" y="36118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5F7FA"/>
                </a:solidFill>
                <a:latin typeface="Microsoft YaHei"/>
                <a:ea typeface="Microsoft YaHei"/>
              </a:rPr>
              <a:t>&lt; 200 ms 量级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0" y="3429000"/>
            <a:ext cx="2788920" cy="713232"/>
          </a:xfrm>
          <a:prstGeom prst="rect">
            <a:avLst/>
          </a:prstGeom>
          <a:solidFill>
            <a:srgbClr val="132A40"/>
          </a:solidFill>
          <a:ln>
            <a:solidFill>
              <a:srgbClr val="20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17152" y="36118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5F7FA"/>
                </a:solidFill>
                <a:latin typeface="Microsoft YaHei"/>
                <a:ea typeface="Microsoft YaHei"/>
              </a:rPr>
              <a:t>☐ 实测：___ ms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4206240"/>
            <a:ext cx="2788920" cy="713232"/>
          </a:xfrm>
          <a:prstGeom prst="rect">
            <a:avLst/>
          </a:prstGeom>
          <a:solidFill>
            <a:srgbClr val="1A3348"/>
          </a:solidFill>
          <a:ln>
            <a:solidFill>
              <a:srgbClr val="20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6072" y="438912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5F7FA"/>
                </a:solidFill>
                <a:latin typeface="Microsoft YaHei"/>
                <a:ea typeface="Microsoft YaHei"/>
              </a:rPr>
              <a:t>连续操作稳定性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0" y="4206240"/>
            <a:ext cx="2788920" cy="713232"/>
          </a:xfrm>
          <a:prstGeom prst="rect">
            <a:avLst/>
          </a:prstGeom>
          <a:solidFill>
            <a:srgbClr val="1A3348"/>
          </a:solidFill>
          <a:ln>
            <a:solidFill>
              <a:srgbClr val="20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56432" y="438912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5F7FA"/>
                </a:solidFill>
                <a:latin typeface="Microsoft YaHei"/>
                <a:ea typeface="Microsoft YaHei"/>
              </a:rPr>
              <a:t>连续演示 5–10 min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63640" y="4206240"/>
            <a:ext cx="2788920" cy="713232"/>
          </a:xfrm>
          <a:prstGeom prst="rect">
            <a:avLst/>
          </a:prstGeom>
          <a:solidFill>
            <a:srgbClr val="1A3348"/>
          </a:solidFill>
          <a:ln>
            <a:solidFill>
              <a:srgbClr val="20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36792" y="438912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5F7FA"/>
                </a:solidFill>
                <a:latin typeface="Microsoft YaHei"/>
                <a:ea typeface="Microsoft YaHei"/>
              </a:rPr>
              <a:t>无明显断连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144000" y="4206240"/>
            <a:ext cx="2788920" cy="713232"/>
          </a:xfrm>
          <a:prstGeom prst="rect">
            <a:avLst/>
          </a:prstGeom>
          <a:solidFill>
            <a:srgbClr val="1A3348"/>
          </a:solidFill>
          <a:ln>
            <a:solidFill>
              <a:srgbClr val="20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17152" y="438912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5F7FA"/>
                </a:solidFill>
                <a:latin typeface="Microsoft YaHei"/>
                <a:ea typeface="Microsoft YaHei"/>
              </a:rPr>
              <a:t>☐ 通过 / 备注：___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983479"/>
            <a:ext cx="2788920" cy="713232"/>
          </a:xfrm>
          <a:prstGeom prst="rect">
            <a:avLst/>
          </a:prstGeom>
          <a:solidFill>
            <a:srgbClr val="132A40"/>
          </a:solidFill>
          <a:ln>
            <a:solidFill>
              <a:srgbClr val="20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6072" y="5166359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5F7FA"/>
                </a:solidFill>
                <a:latin typeface="Microsoft YaHei"/>
                <a:ea typeface="Microsoft YaHei"/>
              </a:rPr>
              <a:t>网站联调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383280" y="4983479"/>
            <a:ext cx="2788920" cy="713232"/>
          </a:xfrm>
          <a:prstGeom prst="rect">
            <a:avLst/>
          </a:prstGeom>
          <a:solidFill>
            <a:srgbClr val="132A40"/>
          </a:solidFill>
          <a:ln>
            <a:solidFill>
              <a:srgbClr val="20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456432" y="5166359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5F7FA"/>
                </a:solidFill>
                <a:latin typeface="Microsoft YaHei"/>
                <a:ea typeface="Microsoft YaHei"/>
              </a:rPr>
              <a:t>手势驱动场景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63640" y="4983479"/>
            <a:ext cx="2788920" cy="713232"/>
          </a:xfrm>
          <a:prstGeom prst="rect">
            <a:avLst/>
          </a:prstGeom>
          <a:solidFill>
            <a:srgbClr val="132A40"/>
          </a:solidFill>
          <a:ln>
            <a:solidFill>
              <a:srgbClr val="20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36792" y="5166359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5F7FA"/>
                </a:solidFill>
                <a:latin typeface="Microsoft YaHei"/>
                <a:ea typeface="Microsoft YaHei"/>
              </a:rPr>
              <a:t>参数/场景正确变化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144000" y="4983479"/>
            <a:ext cx="2788920" cy="713232"/>
          </a:xfrm>
          <a:prstGeom prst="rect">
            <a:avLst/>
          </a:prstGeom>
          <a:solidFill>
            <a:srgbClr val="132A40"/>
          </a:solidFill>
          <a:ln>
            <a:solidFill>
              <a:srgbClr val="20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217152" y="5166359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5F7FA"/>
                </a:solidFill>
                <a:latin typeface="Microsoft YaHei"/>
                <a:ea typeface="Microsoft YaHei"/>
              </a:rPr>
              <a:t>☐ 通过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B8C8"/>
                </a:solidFill>
                <a:latin typeface="Microsoft YaHei"/>
                <a:ea typeface="Microsoft YaHei"/>
              </a:rPr>
              <a:t>恒星形成模拟器 · 结题答辩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8B8C8"/>
                </a:solidFill>
                <a:latin typeface="Microsoft YaHei"/>
                <a:ea typeface="Microsoft YaHei"/>
              </a:rP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0040"/>
            <a:ext cx="109728" cy="50292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9260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5F7FA"/>
                </a:solidFill>
                <a:latin typeface="Microsoft YaHei"/>
                <a:ea typeface="Microsoft YaHei"/>
              </a:rPr>
              <a:t>八、测试过程图片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34440"/>
            <a:ext cx="5486400" cy="4754880"/>
          </a:xfrm>
          <a:prstGeom prst="roundRect">
            <a:avLst/>
          </a:prstGeom>
          <a:solidFill>
            <a:srgbClr val="1A3348"/>
          </a:solidFill>
          <a:ln w="19050">
            <a:solidFill>
              <a:srgbClr val="F0B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200400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0B429"/>
                </a:solidFill>
                <a:latin typeface="Microsoft YaHei"/>
                <a:ea typeface="Microsoft YaHei"/>
              </a:rPr>
              <a:t>【待插入图片】</a:t>
            </a:r>
          </a:p>
          <a:p>
            <a:pPr algn="ctr"/>
            <a:r>
              <a:rPr sz="1200" b="0">
                <a:solidFill>
                  <a:srgbClr val="F0B429"/>
                </a:solidFill>
                <a:latin typeface="Microsoft YaHei"/>
                <a:ea typeface="Microsoft YaHei"/>
              </a:rPr>
              <a:t>测试现场：佩戴与动作采集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34440"/>
            <a:ext cx="5486400" cy="2194560"/>
          </a:xfrm>
          <a:prstGeom prst="roundRect">
            <a:avLst/>
          </a:prstGeom>
          <a:solidFill>
            <a:srgbClr val="1A3348"/>
          </a:solidFill>
          <a:ln w="19050">
            <a:solidFill>
              <a:srgbClr val="F0B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920239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0B429"/>
                </a:solidFill>
                <a:latin typeface="Microsoft YaHei"/>
                <a:ea typeface="Microsoft YaHei"/>
              </a:rPr>
              <a:t>【待插入图片】</a:t>
            </a:r>
          </a:p>
          <a:p>
            <a:pPr algn="ctr"/>
            <a:r>
              <a:rPr sz="1200" b="0">
                <a:solidFill>
                  <a:srgbClr val="F0B429"/>
                </a:solidFill>
                <a:latin typeface="Microsoft YaHei"/>
                <a:ea typeface="Microsoft YaHei"/>
              </a:rPr>
              <a:t>串口 / 数据曲线截图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657600"/>
            <a:ext cx="5486400" cy="2331720"/>
          </a:xfrm>
          <a:prstGeom prst="roundRect">
            <a:avLst/>
          </a:prstGeom>
          <a:solidFill>
            <a:srgbClr val="1A3348"/>
          </a:solidFill>
          <a:ln w="19050">
            <a:solidFill>
              <a:srgbClr val="F0B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4411980"/>
            <a:ext cx="5212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0B429"/>
                </a:solidFill>
                <a:latin typeface="Microsoft YaHei"/>
                <a:ea typeface="Microsoft YaHei"/>
              </a:rPr>
              <a:t>【待插入图片】</a:t>
            </a:r>
          </a:p>
          <a:p>
            <a:pPr algn="ctr"/>
            <a:r>
              <a:rPr sz="1200" b="0">
                <a:solidFill>
                  <a:srgbClr val="F0B429"/>
                </a:solidFill>
                <a:latin typeface="Microsoft YaHei"/>
                <a:ea typeface="Microsoft YaHei"/>
              </a:rPr>
              <a:t>手势驱动网站画面对比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B8C8"/>
                </a:solidFill>
                <a:latin typeface="Microsoft YaHei"/>
                <a:ea typeface="Microsoft YaHei"/>
              </a:rPr>
              <a:t>恒星形成模拟器 · 结题答辩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8B8C8"/>
                </a:solidFill>
                <a:latin typeface="Microsoft YaHei"/>
                <a:ea typeface="Microsoft YaHei"/>
              </a:rP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0040"/>
            <a:ext cx="109728" cy="50292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9260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5F7FA"/>
                </a:solidFill>
                <a:latin typeface="Microsoft YaHei"/>
                <a:ea typeface="Microsoft YaHei"/>
              </a:rPr>
              <a:t>九、总结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F5F7FA"/>
                </a:solidFill>
                <a:latin typeface="Microsoft YaHei"/>
                <a:ea typeface="Microsoft YaHei"/>
              </a:rPr>
              <a:t>●  完成了恒星形成模拟器网站的设计与实现，覆盖场景展示、参数调节与过程可视化等核心功能。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F5F7FA"/>
                </a:solidFill>
                <a:latin typeface="Microsoft YaHei"/>
                <a:ea typeface="Microsoft YaHei"/>
              </a:rPr>
              <a:t>●  完成了互动智能手套的硬件制作、固件与通信，并实现与网站的手势映射联调。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F5F7FA"/>
                </a:solidFill>
                <a:latin typeface="Microsoft YaHei"/>
                <a:ea typeface="Microsoft YaHei"/>
              </a:rPr>
              <a:t>●  形成了较完整的工程链条：方案 → 网站 → 硬件 → 测试 → 演示材料。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F5F7FA"/>
                </a:solidFill>
                <a:latin typeface="Microsoft YaHei"/>
                <a:ea typeface="Microsoft YaHei"/>
              </a:rPr>
              <a:t>●  课题将抽象天体物理过程转化为可操作的交互体验，具备教学演示与科普展示价值。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B8C8"/>
                </a:solidFill>
                <a:latin typeface="Microsoft YaHei"/>
                <a:ea typeface="Microsoft YaHei"/>
              </a:rPr>
              <a:t>恒星形成模拟器 · 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8B8C8"/>
                </a:solidFill>
                <a:latin typeface="Microsoft YaHei"/>
                <a:ea typeface="Microsoft YaHei"/>
              </a:rP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0040"/>
            <a:ext cx="109728" cy="50292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9260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5F7FA"/>
                </a:solidFill>
                <a:latin typeface="Microsoft YaHei"/>
                <a:ea typeface="Microsoft YaHei"/>
              </a:rPr>
              <a:t>九、不足与展望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5394960" cy="4389120"/>
          </a:xfrm>
          <a:prstGeom prst="roundRect">
            <a:avLst/>
          </a:prstGeom>
          <a:solidFill>
            <a:srgbClr val="132A40"/>
          </a:solidFill>
          <a:ln w="15875">
            <a:solidFill>
              <a:srgbClr val="F0B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508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0B429"/>
                </a:solidFill>
                <a:latin typeface="Microsoft YaHei"/>
                <a:ea typeface="Microsoft YaHei"/>
              </a:rPr>
              <a:t>当前不足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1874519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Microsoft YaHei"/>
                <a:ea typeface="Microsoft YaHei"/>
              </a:rPr>
              <a:t>· 物理模型仍偏教学简化，精度有限</a:t>
            </a:r>
          </a:p>
          <a:p>
            <a:pPr algn="l"/>
            <a:r>
              <a:rPr sz="1300" b="0">
                <a:solidFill>
                  <a:srgbClr val="F5F7FA"/>
                </a:solidFill>
                <a:latin typeface="Microsoft YaHei"/>
                <a:ea typeface="Microsoft YaHei"/>
              </a:rPr>
              <a:t>· 手套佩戴舒适度与量产工艺待优化</a:t>
            </a:r>
          </a:p>
          <a:p>
            <a:pPr algn="l"/>
            <a:r>
              <a:rPr sz="1300" b="0">
                <a:solidFill>
                  <a:srgbClr val="F5F7FA"/>
                </a:solidFill>
                <a:latin typeface="Microsoft YaHei"/>
                <a:ea typeface="Microsoft YaHei"/>
              </a:rPr>
              <a:t>· 复杂手势集与抗干扰能力可再提升</a:t>
            </a:r>
          </a:p>
          <a:p>
            <a:pPr algn="l"/>
            <a:r>
              <a:rPr sz="1300" b="0">
                <a:solidFill>
                  <a:srgbClr val="F5F7FA"/>
                </a:solidFill>
                <a:latin typeface="Microsoft YaHei"/>
                <a:ea typeface="Microsoft YaHei"/>
              </a:rPr>
              <a:t>· 多用户同时交互与移动端适配不足</a:t>
            </a:r>
          </a:p>
          <a:p>
            <a:pPr algn="l"/>
            <a:r>
              <a:rPr sz="1300" b="0">
                <a:solidFill>
                  <a:srgbClr val="F5F7FA"/>
                </a:solidFill>
                <a:latin typeface="Microsoft YaHei"/>
                <a:ea typeface="Microsoft YaHei"/>
              </a:rPr>
              <a:t>· 过程记录与自动化测评尚不完善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371600"/>
            <a:ext cx="5394960" cy="4389120"/>
          </a:xfrm>
          <a:prstGeom prst="roundRect">
            <a:avLst/>
          </a:prstGeom>
          <a:solidFill>
            <a:srgbClr val="132A40"/>
          </a:solidFill>
          <a:ln w="15875">
            <a:solidFill>
              <a:srgbClr val="4EC3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508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EC3D8"/>
                </a:solidFill>
                <a:latin typeface="Microsoft YaHei"/>
                <a:ea typeface="Microsoft YaHei"/>
              </a:rPr>
              <a:t>后续展望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874519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5F7FA"/>
                </a:solidFill>
                <a:latin typeface="Microsoft YaHei"/>
                <a:ea typeface="Microsoft YaHei"/>
              </a:rPr>
              <a:t>· 引入更精细的流体 / 反馈可视化</a:t>
            </a:r>
          </a:p>
          <a:p>
            <a:pPr algn="l"/>
            <a:r>
              <a:rPr sz="1300" b="0">
                <a:solidFill>
                  <a:srgbClr val="F5F7FA"/>
                </a:solidFill>
                <a:latin typeface="Microsoft YaHei"/>
                <a:ea typeface="Microsoft YaHei"/>
              </a:rPr>
              <a:t>· 优化传感布局与无线稳定性</a:t>
            </a:r>
          </a:p>
          <a:p>
            <a:pPr algn="l"/>
            <a:r>
              <a:rPr sz="1300" b="0">
                <a:solidFill>
                  <a:srgbClr val="F5F7FA"/>
                </a:solidFill>
                <a:latin typeface="Microsoft YaHei"/>
                <a:ea typeface="Microsoft YaHei"/>
              </a:rPr>
              <a:t>· 扩展手势库与自适应标定</a:t>
            </a:r>
          </a:p>
          <a:p>
            <a:pPr algn="l"/>
            <a:r>
              <a:rPr sz="1300" b="0">
                <a:solidFill>
                  <a:srgbClr val="F5F7FA"/>
                </a:solidFill>
                <a:latin typeface="Microsoft YaHei"/>
                <a:ea typeface="Microsoft YaHei"/>
              </a:rPr>
              <a:t>· 增加教学模式与关卡化学习路径</a:t>
            </a:r>
          </a:p>
          <a:p>
            <a:pPr algn="l"/>
            <a:r>
              <a:rPr sz="1300" b="0">
                <a:solidFill>
                  <a:srgbClr val="F5F7FA"/>
                </a:solidFill>
                <a:latin typeface="Microsoft YaHei"/>
                <a:ea typeface="Microsoft YaHei"/>
              </a:rPr>
              <a:t>· 沉淀开源文档，便于复现与推广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B8C8"/>
                </a:solidFill>
                <a:latin typeface="Microsoft YaHei"/>
                <a:ea typeface="Microsoft YaHei"/>
              </a:rPr>
              <a:t>恒星形成模拟器 · 结题答辩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8B8C8"/>
                </a:solidFill>
                <a:latin typeface="Microsoft YaHei"/>
                <a:ea typeface="Microsoft YaHei"/>
              </a:rP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0040"/>
            <a:ext cx="109728" cy="50292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9260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5F7FA"/>
                </a:solidFill>
                <a:latin typeface="Microsoft YaHei"/>
                <a:ea typeface="Microsoft YaHei"/>
              </a:rPr>
              <a:t>十、参考文献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8016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F5F7FA"/>
                </a:solidFill>
                <a:latin typeface="Microsoft YaHei"/>
                <a:ea typeface="Microsoft YaHei"/>
              </a:rPr>
              <a:t>●  [1] McKee C. F., Ostriker E. C. Theory of Star Formation. ARA&amp;A, 2007.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F5F7FA"/>
                </a:solidFill>
                <a:latin typeface="Microsoft YaHei"/>
                <a:ea typeface="Microsoft YaHei"/>
              </a:rPr>
              <a:t>●  [2] Krumholz M. R. The Formation of Very Massive Stars. 相关综述与教材章节.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F5F7FA"/>
                </a:solidFill>
                <a:latin typeface="Microsoft YaHei"/>
                <a:ea typeface="Microsoft YaHei"/>
              </a:rPr>
              <a:t>●  [3] 孙凯等. 分子云与恒星形成相关教材 / 讲义（按实际引用替换）.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F5F7FA"/>
                </a:solidFill>
                <a:latin typeface="Microsoft YaHei"/>
                <a:ea typeface="Microsoft YaHei"/>
              </a:rPr>
              <a:t>●  [4] 数据手套与手势识别相关论文：弯曲传感、IMU 姿态融合方法.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F5F7FA"/>
                </a:solidFill>
                <a:latin typeface="Microsoft YaHei"/>
                <a:ea typeface="Microsoft YaHei"/>
              </a:rPr>
              <a:t>●  [5] Three.js / WebGL 可视化与前端工程文档（按实际技术栈替换）.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F5F7FA"/>
                </a:solidFill>
                <a:latin typeface="Microsoft YaHei"/>
                <a:ea typeface="Microsoft YaHei"/>
              </a:rPr>
              <a:t>●  [6] ESP32 / Arduino 官方文档与 BLE 通信应用笔记.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F5F7FA"/>
                </a:solidFill>
                <a:latin typeface="Microsoft YaHei"/>
                <a:ea typeface="Microsoft YaHei"/>
              </a:rPr>
              <a:t>●  [7] 开题报告及本课题阶段过程记录、测试日志.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F5F7FA"/>
                </a:solidFill>
                <a:latin typeface="Microsoft YaHei"/>
                <a:ea typeface="Microsoft YaHei"/>
              </a:rPr>
              <a:t>●  （请根据真实引用格式与页码，替换为学校要求的国标格式）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B8C8"/>
                </a:solidFill>
                <a:latin typeface="Microsoft YaHei"/>
                <a:ea typeface="Microsoft YaHei"/>
              </a:rPr>
              <a:t>恒星形成模拟器 · 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8B8C8"/>
                </a:solidFill>
                <a:latin typeface="Microsoft YaHei"/>
                <a:ea typeface="Microsoft YaHei"/>
              </a:rP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0040"/>
            <a:ext cx="109728" cy="50292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9260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5F7FA"/>
                </a:solidFill>
                <a:latin typeface="Microsoft YaHei"/>
                <a:ea typeface="Microsoft YaHei"/>
              </a:rPr>
              <a:t>十一、感悟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5F7FA"/>
                </a:solidFill>
                <a:latin typeface="Microsoft YaHei"/>
                <a:ea typeface="Microsoft YaHei"/>
              </a:rPr>
              <a:t>●  从开题到结题，体会到“理论构想”落地为“可演示系统”需要反复迭代。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5F7FA"/>
                </a:solidFill>
                <a:latin typeface="Microsoft YaHei"/>
                <a:ea typeface="Microsoft YaHei"/>
              </a:rPr>
              <a:t>●  网站可视化让抽象物理过程变得可感知；手套交互则进一步强化了参与感。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5F7FA"/>
                </a:solidFill>
                <a:latin typeface="Microsoft YaHei"/>
                <a:ea typeface="Microsoft YaHei"/>
              </a:rPr>
              <a:t>●  硬件调试中的接线、标定与通信问题，锻炼了排查与文档化习惯。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5F7FA"/>
                </a:solidFill>
                <a:latin typeface="Microsoft YaHei"/>
                <a:ea typeface="Microsoft YaHei"/>
              </a:rPr>
              <a:t>●  跨软件与硬件协作，让我更理解系统设计中的接口与闭环思维。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5F7FA"/>
                </a:solidFill>
                <a:latin typeface="Microsoft YaHei"/>
                <a:ea typeface="Microsoft YaHei"/>
              </a:rPr>
              <a:t>●  （可补充个人真实故事：一次失败联调、一次成功演示等）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B8C8"/>
                </a:solidFill>
                <a:latin typeface="Microsoft YaHei"/>
                <a:ea typeface="Microsoft YaHei"/>
              </a:rPr>
              <a:t>恒星形成模拟器 · 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8B8C8"/>
                </a:solidFill>
                <a:latin typeface="Microsoft YaHei"/>
                <a:ea typeface="Microsoft YaHei"/>
              </a:rP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0B429"/>
                </a:solidFill>
                <a:latin typeface="Microsoft YaHei"/>
                <a:ea typeface="Microsoft YaHei"/>
              </a:rPr>
              <a:t>致谢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65176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5F7FA"/>
                </a:solidFill>
                <a:latin typeface="Microsoft YaHei"/>
                <a:ea typeface="Microsoft YaHei"/>
              </a:rPr>
              <a:t>感谢指导教师在选题、方案与答辩准备中的悉心指导！</a:t>
            </a:r>
          </a:p>
          <a:p>
            <a:pPr algn="ctr"/>
            <a:r>
              <a:rPr sz="2000" b="0">
                <a:solidFill>
                  <a:srgbClr val="F5F7FA"/>
                </a:solidFill>
                <a:latin typeface="Microsoft YaHei"/>
                <a:ea typeface="Microsoft YaHei"/>
              </a:rPr>
              <a:t>感谢实验室同学在网站联调与手套制作中的帮助！</a:t>
            </a:r>
          </a:p>
          <a:p>
            <a:pPr algn="ctr"/>
            <a:r>
              <a:rPr sz="2000" b="0">
                <a:solidFill>
                  <a:srgbClr val="F5F7FA"/>
                </a:solidFill>
                <a:latin typeface="Microsoft YaHei"/>
                <a:ea typeface="Microsoft YaHei"/>
              </a:rPr>
              <a:t>感谢家人与朋友的支持与鼓励！</a:t>
            </a:r>
          </a:p>
          <a:p>
            <a:pPr algn="ctr"/>
            <a:r>
              <a:rPr sz="2000" b="0">
                <a:solidFill>
                  <a:srgbClr val="F5F7FA"/>
                </a:solidFill>
                <a:latin typeface="Microsoft YaHei"/>
                <a:ea typeface="Microsoft YaHei"/>
              </a:rPr>
              <a:t/>
            </a:r>
          </a:p>
          <a:p>
            <a:pPr algn="ctr"/>
            <a:r>
              <a:rPr sz="2000" b="0">
                <a:solidFill>
                  <a:srgbClr val="F5F7FA"/>
                </a:solidFill>
                <a:latin typeface="Microsoft YaHei"/>
                <a:ea typeface="Microsoft YaHei"/>
              </a:rPr>
              <a:t>敬请各位老师批评指正！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20040"/>
            <a:ext cx="109728" cy="502920"/>
          </a:xfrm>
          <a:prstGeom prst="rect">
            <a:avLst/>
          </a:prstGeom>
          <a:solidFill>
            <a:srgbClr val="F0B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9260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5F7FA"/>
                </a:solidFill>
                <a:latin typeface="Microsoft YaHei"/>
                <a:ea typeface="Microsoft YaHei"/>
              </a:rPr>
              <a:t>附录：素材替换说明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5F7FA"/>
                </a:solidFill>
                <a:latin typeface="Microsoft YaHei"/>
                <a:ea typeface="Microsoft YaHei"/>
              </a:rPr>
              <a:t>●  本云端环境无法读取本机 Codex 会话 019f97f6-… 中的开题 PPT。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5F7FA"/>
                </a:solidFill>
                <a:latin typeface="Microsoft YaHei"/>
                <a:ea typeface="Microsoft YaHei"/>
              </a:rPr>
              <a:t>●  也无法访问 /Volumes/YIKE_BACKUP/恒星形成模拟器 下的图片资料。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5F7FA"/>
                </a:solidFill>
                <a:latin typeface="Microsoft YaHei"/>
                <a:ea typeface="Microsoft YaHei"/>
              </a:rPr>
              <a:t>●  请将开题 PPT 与图片文件夹上传/拷贝到本仓库 assets/photos/ 后告知，可自动嵌图精修。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5F7FA"/>
                </a:solidFill>
                <a:latin typeface="Microsoft YaHei"/>
                <a:ea typeface="Microsoft YaHei"/>
              </a:rPr>
              <a:t>●  已生成图示位于 assets/diagrams/：架构、流程、接线、制作与测试流程。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5F7FA"/>
                </a:solidFill>
                <a:latin typeface="Microsoft YaHei"/>
                <a:ea typeface="Microsoft YaHei"/>
              </a:rPr>
              <a:t>●  封面姓名、导师、测试数据、参考文献请按实际情况填写。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