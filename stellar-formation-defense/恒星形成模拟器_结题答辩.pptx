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B429"/>
                </a:solidFill>
                <a:latin typeface="Microsoft YaHei"/>
                <a:ea typeface="Microsoft YaHei"/>
              </a:rPr>
              <a:t>结题答辩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F7FA"/>
                </a:solidFill>
                <a:latin typeface="Microsoft YaHei"/>
                <a:ea typeface="Microsoft YaHei"/>
              </a:rPr>
              <a:t>基于智能交互手套的</a:t>
            </a:r>
          </a:p>
          <a:p>
            <a:pPr algn="ctr"/>
            <a:r>
              <a:rPr sz="3600" b="1">
                <a:solidFill>
                  <a:srgbClr val="F5F7FA"/>
                </a:solidFill>
                <a:latin typeface="Microsoft YaHei"/>
                <a:ea typeface="Microsoft YaHei"/>
              </a:rPr>
              <a:t>恒星形成模拟器设计与实现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8B8C8"/>
                </a:solidFill>
                <a:latin typeface="Microsoft YaHei"/>
                <a:ea typeface="Microsoft YaHei"/>
              </a:rPr>
              <a:t>保留开题研究背景与方案，重点展示网站成果、硬件制作、联调测试与总结展望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icrosoft YaHei"/>
                <a:ea typeface="Microsoft YaHei"/>
              </a:rPr>
              <a:t>答辩人：________　　指导教师：________</a:t>
            </a:r>
          </a:p>
          <a:p>
            <a:pPr algn="ctr"/>
            <a:r>
              <a:rPr sz="1400" b="0">
                <a:solidFill>
                  <a:srgbClr val="F5F7FA"/>
                </a:solidFill>
                <a:latin typeface="Microsoft YaHei"/>
                <a:ea typeface="Microsoft YaHei"/>
              </a:rPr>
              <a:t>学院 / 专业：________　　日期：________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目录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25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研究背景与意义（开题保留）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402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研究内容与总体方案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546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技术路线与系统架构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69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恒星形成模拟器网站设计与功能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83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网站制作过程展示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325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接线图与流程图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2402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互动手套制作过程与结果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1546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智能手套功能测试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069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983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参考文献 · 感悟与致谢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一、研究背景与意义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8C8"/>
                </a:solidFill>
                <a:latin typeface="Microsoft YaHei"/>
                <a:ea typeface="Microsoft YaHei"/>
              </a:rPr>
              <a:t>开题内容保留与凝练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2194560"/>
          </a:xfrm>
          <a:prstGeom prst="roundRect">
            <a:avLst/>
          </a:prstGeom>
          <a:solidFill>
            <a:srgbClr val="132A40"/>
          </a:solidFill>
          <a:ln w="15875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B429"/>
                </a:solidFill>
                <a:latin typeface="Microsoft YaHei"/>
                <a:ea typeface="Microsoft YaHei"/>
              </a:rPr>
              <a:t>科学背景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恒星形成是天体物理学的核心议题之一。分子云在引力作用下坍缩，历经致密核、原恒星到主序星等阶段。传统课堂讲解抽象，难以直观感受多物理过程的耦合与反馈。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2194560"/>
          </a:xfrm>
          <a:prstGeom prst="roundRect">
            <a:avLst/>
          </a:prstGeom>
          <a:solidFill>
            <a:srgbClr val="132A40"/>
          </a:solidFill>
          <a:ln w="15875">
            <a:solidFill>
              <a:srgbClr val="4EC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3D8"/>
                </a:solidFill>
                <a:latin typeface="Microsoft YaHei"/>
                <a:ea typeface="Microsoft YaHei"/>
              </a:rPr>
              <a:t>教育痛点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纯二维图示与视频演示缺少“可操作”体验；学生对参数如何影响坍缩、碎裂与反馈缺乏即时反馈。需要可视化 + 体感交互的学习载体。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10881360" cy="2103120"/>
          </a:xfrm>
          <a:prstGeom prst="roundRect">
            <a:avLst/>
          </a:prstGeom>
          <a:solidFill>
            <a:srgbClr val="132A40"/>
          </a:solidFill>
          <a:ln w="15875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977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B429"/>
                </a:solidFill>
                <a:latin typeface="Microsoft YaHei"/>
                <a:ea typeface="Microsoft YaHei"/>
              </a:rPr>
              <a:t>本课题意义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343400"/>
            <a:ext cx="105156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搭建恒星形成过程的交互式网站模拟器，并研制可穿戴智能手套，用手势实时操控仿真参数与场景进程，实现“看—做—悟”一体化科普与教学演示，提升课题的工程落地与展示完整性。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二、研究内容与目标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F5F7FA"/>
                </a:solidFill>
                <a:latin typeface="Microsoft YaHei"/>
                <a:ea typeface="Microsoft YaHei"/>
              </a:rPr>
              <a:t>●  梳理恒星形成关键物理图像与教学演示需求，明确可视化场景与交互目标。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5F7FA"/>
                </a:solidFill>
                <a:latin typeface="Microsoft YaHei"/>
                <a:ea typeface="Microsoft YaHei"/>
              </a:rPr>
              <a:t>●  设计并实现恒星形成模拟器网站：场景展示、参数调节、过程动画与结果反馈。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5F7FA"/>
                </a:solidFill>
                <a:latin typeface="Microsoft YaHei"/>
                <a:ea typeface="Microsoft YaHei"/>
              </a:rPr>
              <a:t>●  研制互动智能手套：弯曲传感、姿态感知、主控通信与手势映射。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5F7FA"/>
                </a:solidFill>
                <a:latin typeface="Microsoft YaHei"/>
                <a:ea typeface="Microsoft YaHei"/>
              </a:rPr>
              <a:t>●  完成手套与网站联调，形成可演示的人机交互闭环。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5F7FA"/>
                </a:solidFill>
                <a:latin typeface="Microsoft YaHei"/>
                <a:ea typeface="Microsoft YaHei"/>
              </a:rPr>
              <a:t>●  整理制作过程、测试结果、总结展望与答辩材料。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三、技术路线</a:t>
            </a:r>
          </a:p>
        </p:txBody>
      </p:sp>
      <p:pic>
        <p:nvPicPr>
          <p:cNvPr id="5" name="Picture 4" descr="07_overall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三、系统总体架构</a:t>
            </a:r>
          </a:p>
        </p:txBody>
      </p:sp>
      <p:pic>
        <p:nvPicPr>
          <p:cNvPr id="5" name="Picture 4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15568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四、恒星形成模拟器网站 · 功能总览</a:t>
            </a:r>
          </a:p>
        </p:txBody>
      </p:sp>
      <p:pic>
        <p:nvPicPr>
          <p:cNvPr id="5" name="Picture 4" descr="02_websit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四、网站功能展示（截图）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8C8"/>
                </a:solidFill>
                <a:latin typeface="Microsoft YaHei"/>
                <a:ea typeface="Microsoft YaHei"/>
              </a:rPr>
              <a:t>请替换为实际网站截图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697480" cy="310896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首页 / 场景入口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805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首页 / 场景入口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展示项目主题与模拟入口，建立沉浸式第一印象。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34440"/>
            <a:ext cx="2697480" cy="310896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774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参数调节面板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4805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参数调节面板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初始密度、温度、扰动等参数可视化调节。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2697480" cy="310896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三维 / 动画仿真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4805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三维 / 动画仿真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分子云坍缩至原恒星形成的动态过程。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234440"/>
            <a:ext cx="2697480" cy="310896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3774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手套控制状态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4805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手套控制状态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实时显示手势指令与映射反馈。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四、网站主要功能补充截图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86400" cy="475488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功能截图：引力坍缩 / 碎裂过程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86400" cy="219456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2023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功能截图：原恒星与盘结构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486400" cy="233172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4119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功能截图：反馈机制 / 结果对比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五、网站制作过程</a:t>
            </a:r>
          </a:p>
        </p:txBody>
      </p:sp>
      <p:pic>
        <p:nvPicPr>
          <p:cNvPr id="5" name="Picture 4" descr="03_website_dev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五、网站制作过程图片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8C8"/>
                </a:solidFill>
                <a:latin typeface="Microsoft YaHei"/>
                <a:ea typeface="Microsoft YaHei"/>
              </a:rPr>
              <a:t>请替换为设计稿、编码界面、调试与部署照片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线框 / UI 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前端开发界面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3444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6596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仿真效果调试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功能联调记录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79476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52628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移动端 / 演示适配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79476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52628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版本迭代对比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六、硬件接线图</a:t>
            </a:r>
          </a:p>
        </p:txBody>
      </p:sp>
      <p:pic>
        <p:nvPicPr>
          <p:cNvPr id="5" name="Picture 4" descr="04_wir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52144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六、实际接线与实物对照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8C8"/>
                </a:solidFill>
                <a:latin typeface="Microsoft YaHei"/>
                <a:ea typeface="Microsoft YaHei"/>
              </a:rPr>
              <a:t>请插入真实接线图 / 面包板 / PCB 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475488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实物接线图 / 焊接细节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486400" cy="475488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手套内部走线与模块布局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六、流程图汇总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5F7FA"/>
                </a:solidFill>
                <a:latin typeface="Microsoft YaHei"/>
                <a:ea typeface="Microsoft YaHei"/>
              </a:rPr>
              <a:t>●  系统架构图：手套 → 主控通信 → 网站仿真反馈。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5F7FA"/>
                </a:solidFill>
                <a:latin typeface="Microsoft YaHei"/>
                <a:ea typeface="Microsoft YaHei"/>
              </a:rPr>
              <a:t>●  网站交互流程：进入场景 → 调参 → 仿真 → 手势操控。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5F7FA"/>
                </a:solidFill>
                <a:latin typeface="Microsoft YaHei"/>
                <a:ea typeface="Microsoft YaHei"/>
              </a:rPr>
              <a:t>●  手套制作流程：选材 → 固定传感 → 组装 → 固件 → 联调。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5F7FA"/>
                </a:solidFill>
                <a:latin typeface="Microsoft YaHei"/>
                <a:ea typeface="Microsoft YaHei"/>
              </a:rPr>
              <a:t>●  测试流程：硬件自检 → 标定 → 识别 → 延迟与联调验证。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七、互动手套制作过程</a:t>
            </a:r>
          </a:p>
        </p:txBody>
      </p:sp>
      <p:pic>
        <p:nvPicPr>
          <p:cNvPr id="5" name="Picture 4" descr="05_glove_buil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七、手套制作过程与结果图片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8C8"/>
                </a:solidFill>
                <a:latin typeface="Microsoft YaHei"/>
                <a:ea typeface="Microsoft YaHei"/>
              </a:rPr>
              <a:t>请替换为制作过程实拍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材料准备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传感器固定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3444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6596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主控与姿态模块安装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走线与供电封装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79476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52628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成品正面 / 佩戴效果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794760"/>
            <a:ext cx="3611880" cy="228600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52628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与电脑联调现场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七、制作结果说明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4389120"/>
          </a:xfrm>
          <a:prstGeom prst="roundRect">
            <a:avLst/>
          </a:prstGeom>
          <a:solidFill>
            <a:srgbClr val="132A40"/>
          </a:solidFill>
          <a:ln w="15875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B429"/>
                </a:solidFill>
                <a:latin typeface="Microsoft YaHei"/>
                <a:ea typeface="Microsoft YaHei"/>
              </a:rPr>
              <a:t>硬件结果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完成可穿戴交互手套样机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集成多路弯曲传感与姿态模块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实现无线/串口数据上传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外观满足演示佩戴需求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（可在此补充尺寸、功耗、续航等实测数据）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389120"/>
          </a:xfrm>
          <a:prstGeom prst="roundRect">
            <a:avLst/>
          </a:prstGeom>
          <a:solidFill>
            <a:srgbClr val="132A40"/>
          </a:solidFill>
          <a:ln w="15875">
            <a:solidFill>
              <a:srgbClr val="4EC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3D8"/>
                </a:solidFill>
                <a:latin typeface="Microsoft YaHei"/>
                <a:ea typeface="Microsoft YaHei"/>
              </a:rPr>
              <a:t>软件 / 映射结果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完成手势指令集定义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弯曲量归一化与阈值判定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手势映射到网站控制事件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形成可重复演示流程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（可补充手势表：握拳=开始、张开=重置、倾斜=调参等）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八、智能手套功能测试</a:t>
            </a:r>
          </a:p>
        </p:txBody>
      </p:sp>
      <p:pic>
        <p:nvPicPr>
          <p:cNvPr id="5" name="Picture 4" descr="06_tes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八、测试内容与结果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8C8"/>
                </a:solidFill>
                <a:latin typeface="Microsoft YaHei"/>
                <a:ea typeface="Microsoft YaHei"/>
              </a:rPr>
              <a:t>请按实测数据更新表格数值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788920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B2B"/>
                </a:solidFill>
                <a:latin typeface="Microsoft YaHei"/>
                <a:ea typeface="Microsoft YaHei"/>
              </a:rPr>
              <a:t>测试项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2788920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5331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B2B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2788920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35331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B2B"/>
                </a:solidFill>
                <a:latin typeface="Microsoft YaHei"/>
                <a:ea typeface="Microsoft YaHei"/>
              </a:rPr>
              <a:t>预期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280160"/>
            <a:ext cx="2788920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35331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B2B"/>
                </a:solidFill>
                <a:latin typeface="Microsoft YaHei"/>
                <a:ea typeface="Microsoft YaHei"/>
              </a:rPr>
              <a:t>结果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74519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单指弯曲响应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874519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逐指弯曲采集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874519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曲线单调可分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874519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☐ 通过 / 数据：___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51760"/>
            <a:ext cx="2788920" cy="713232"/>
          </a:xfrm>
          <a:prstGeom prst="rect">
            <a:avLst/>
          </a:prstGeom>
          <a:solidFill>
            <a:srgbClr val="1A3348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典型手势识别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651760"/>
            <a:ext cx="2788920" cy="713232"/>
          </a:xfrm>
          <a:prstGeom prst="rect">
            <a:avLst/>
          </a:prstGeom>
          <a:solidFill>
            <a:srgbClr val="1A3348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握拳/张开/指向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651760"/>
            <a:ext cx="2788920" cy="713232"/>
          </a:xfrm>
          <a:prstGeom prst="rect">
            <a:avLst/>
          </a:prstGeom>
          <a:solidFill>
            <a:srgbClr val="1A3348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识别稳定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651760"/>
            <a:ext cx="2788920" cy="713232"/>
          </a:xfrm>
          <a:prstGeom prst="rect">
            <a:avLst/>
          </a:prstGeom>
          <a:solidFill>
            <a:srgbClr val="1A3348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☐ 通过 / 准确率：___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429000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通信延迟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3429000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6432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指令到画面响应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429000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&lt; 200 ms 量级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429000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17152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☐ 实测：___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06240"/>
            <a:ext cx="2788920" cy="713232"/>
          </a:xfrm>
          <a:prstGeom prst="rect">
            <a:avLst/>
          </a:prstGeom>
          <a:solidFill>
            <a:srgbClr val="1A3348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连续操作稳定性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4206240"/>
            <a:ext cx="2788920" cy="713232"/>
          </a:xfrm>
          <a:prstGeom prst="rect">
            <a:avLst/>
          </a:prstGeom>
          <a:solidFill>
            <a:srgbClr val="1A3348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56432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连续演示 5–10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206240"/>
            <a:ext cx="2788920" cy="713232"/>
          </a:xfrm>
          <a:prstGeom prst="rect">
            <a:avLst/>
          </a:prstGeom>
          <a:solidFill>
            <a:srgbClr val="1A3348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6792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无明显断连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206240"/>
            <a:ext cx="2788920" cy="713232"/>
          </a:xfrm>
          <a:prstGeom prst="rect">
            <a:avLst/>
          </a:prstGeom>
          <a:solidFill>
            <a:srgbClr val="1A3348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☐ 通过 / 备注：___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983479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516635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网站联调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80" y="4983479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56432" y="516635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手势驱动场景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4983479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2" y="516635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参数/场景正确变化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4983479"/>
            <a:ext cx="2788920" cy="713232"/>
          </a:xfrm>
          <a:prstGeom prst="rect">
            <a:avLst/>
          </a:prstGeom>
          <a:solidFill>
            <a:srgbClr val="132A40"/>
          </a:solidFill>
          <a:ln>
            <a:solidFill>
              <a:srgbClr val="20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516635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icrosoft YaHei"/>
                <a:ea typeface="Microsoft YaHei"/>
              </a:rPr>
              <a:t>☐ 通过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八、测试过程图片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86400" cy="475488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测试现场：佩戴与动作采集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86400" cy="219456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2023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串口 / 数据曲线截图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486400" cy="2331720"/>
          </a:xfrm>
          <a:prstGeom prst="roundRect">
            <a:avLst/>
          </a:prstGeom>
          <a:solidFill>
            <a:srgbClr val="1A3348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4119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【待插入图片】</a:t>
            </a:r>
          </a:p>
          <a:p>
            <a:pPr algn="ctr"/>
            <a:r>
              <a:rPr sz="1200" b="0">
                <a:solidFill>
                  <a:srgbClr val="F0B429"/>
                </a:solidFill>
                <a:latin typeface="Microsoft YaHei"/>
                <a:ea typeface="Microsoft YaHei"/>
              </a:rPr>
              <a:t>手势驱动网站画面对比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九、总结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F5F7FA"/>
                </a:solidFill>
                <a:latin typeface="Microsoft YaHei"/>
                <a:ea typeface="Microsoft YaHei"/>
              </a:rPr>
              <a:t>●  完成了恒星形成模拟器网站的设计与实现，覆盖场景展示、参数调节与过程可视化等核心功能。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5F7FA"/>
                </a:solidFill>
                <a:latin typeface="Microsoft YaHei"/>
                <a:ea typeface="Microsoft YaHei"/>
              </a:rPr>
              <a:t>●  完成了互动智能手套的硬件制作、固件与通信，并实现与网站的手势映射联调。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5F7FA"/>
                </a:solidFill>
                <a:latin typeface="Microsoft YaHei"/>
                <a:ea typeface="Microsoft YaHei"/>
              </a:rPr>
              <a:t>●  形成了较完整的工程链条：方案 → 网站 → 硬件 → 测试 → 演示材料。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5F7FA"/>
                </a:solidFill>
                <a:latin typeface="Microsoft YaHei"/>
                <a:ea typeface="Microsoft YaHei"/>
              </a:rPr>
              <a:t>●  课题将抽象天体物理过程转化为可操作的交互体验，具备教学演示与科普展示价值。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九、不足与展望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4389120"/>
          </a:xfrm>
          <a:prstGeom prst="roundRect">
            <a:avLst/>
          </a:prstGeom>
          <a:solidFill>
            <a:srgbClr val="132A40"/>
          </a:solidFill>
          <a:ln w="15875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B429"/>
                </a:solidFill>
                <a:latin typeface="Microsoft YaHei"/>
                <a:ea typeface="Microsoft YaHei"/>
              </a:rPr>
              <a:t>当前不足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物理模型仍偏教学简化，精度有限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手套佩戴舒适度与量产工艺待优化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复杂手势集与抗干扰能力可再提升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多用户同时交互与移动端适配不足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过程记录与自动化测评尚不完善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389120"/>
          </a:xfrm>
          <a:prstGeom prst="roundRect">
            <a:avLst/>
          </a:prstGeom>
          <a:solidFill>
            <a:srgbClr val="132A40"/>
          </a:solidFill>
          <a:ln w="15875">
            <a:solidFill>
              <a:srgbClr val="4EC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3D8"/>
                </a:solidFill>
                <a:latin typeface="Microsoft YaHei"/>
                <a:ea typeface="Microsoft YaHei"/>
              </a:rPr>
              <a:t>后续展望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引入更精细的流体 / 反馈可视化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优化传感布局与无线稳定性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扩展手势库与自适应标定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增加教学模式与关卡化学习路径</a:t>
            </a:r>
          </a:p>
          <a:p>
            <a:pPr algn="l"/>
            <a:r>
              <a:rPr sz="1300" b="0">
                <a:solidFill>
                  <a:srgbClr val="F5F7FA"/>
                </a:solidFill>
                <a:latin typeface="Microsoft YaHei"/>
                <a:ea typeface="Microsoft YaHei"/>
              </a:rPr>
              <a:t>· 沉淀开源文档，便于复现与推广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十、参考文献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Microsoft YaHei"/>
                <a:ea typeface="Microsoft YaHei"/>
              </a:rPr>
              <a:t>●  [1] McKee C. F., Ostriker E. C. Theory of Star Formation. ARA&amp;A, 2007.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Microsoft YaHei"/>
                <a:ea typeface="Microsoft YaHei"/>
              </a:rPr>
              <a:t>●  [2] Krumholz M. R. The Formation of Very Massive Stars. 相关综述与教材章节.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Microsoft YaHei"/>
                <a:ea typeface="Microsoft YaHei"/>
              </a:rPr>
              <a:t>●  [3] 孙凯等. 分子云与恒星形成相关教材 / 讲义（按实际引用替换）.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Microsoft YaHei"/>
                <a:ea typeface="Microsoft YaHei"/>
              </a:rPr>
              <a:t>●  [4] 数据手套与手势识别相关论文：弯曲传感、IMU 姿态融合方法.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Microsoft YaHei"/>
                <a:ea typeface="Microsoft YaHei"/>
              </a:rPr>
              <a:t>●  [5] Three.js / WebGL 可视化与前端工程文档（按实际技术栈替换）.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Microsoft YaHei"/>
                <a:ea typeface="Microsoft YaHei"/>
              </a:rPr>
              <a:t>●  [6] ESP32 / Arduino 官方文档与 BLE 通信应用笔记.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Microsoft YaHei"/>
                <a:ea typeface="Microsoft YaHei"/>
              </a:rPr>
              <a:t>●  [7] 开题报告及本课题阶段过程记录、测试日志.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Microsoft YaHei"/>
                <a:ea typeface="Microsoft YaHei"/>
              </a:rPr>
              <a:t>●  （请根据真实引用格式与页码，替换为学校要求的国标格式）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十一、感悟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●  从开题到结题，体会到“理论构想”落地为“可演示系统”需要反复迭代。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●  网站可视化让抽象物理过程变得可感知；手套交互则进一步强化了参与感。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●  硬件调试中的接线、标定与通信问题，锻炼了排查与文档化习惯。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●  跨软件与硬件协作，让我更理解系统设计中的接口与闭环思维。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●  （可补充个人真实故事：一次失败联调、一次成功演示等）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恒星形成模拟器 · 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8C8"/>
                </a:solidFill>
                <a:latin typeface="Microsoft YaHei"/>
                <a:ea typeface="Microsoft YaHe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B429"/>
                </a:solidFill>
                <a:latin typeface="Microsoft YaHei"/>
                <a:ea typeface="Microsoft YaHei"/>
              </a:rPr>
              <a:t>致谢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F7FA"/>
                </a:solidFill>
                <a:latin typeface="Microsoft YaHei"/>
                <a:ea typeface="Microsoft YaHei"/>
              </a:rPr>
              <a:t>感谢指导教师在选题、方案与答辩准备中的悉心指导！</a:t>
            </a:r>
          </a:p>
          <a:p>
            <a:pPr algn="ctr"/>
            <a:r>
              <a:rPr sz="2000" b="0">
                <a:solidFill>
                  <a:srgbClr val="F5F7FA"/>
                </a:solidFill>
                <a:latin typeface="Microsoft YaHei"/>
                <a:ea typeface="Microsoft YaHei"/>
              </a:rPr>
              <a:t>感谢实验室同学在网站联调与手套制作中的帮助！</a:t>
            </a:r>
          </a:p>
          <a:p>
            <a:pPr algn="ctr"/>
            <a:r>
              <a:rPr sz="2000" b="0">
                <a:solidFill>
                  <a:srgbClr val="F5F7FA"/>
                </a:solidFill>
                <a:latin typeface="Microsoft YaHei"/>
                <a:ea typeface="Microsoft YaHei"/>
              </a:rPr>
              <a:t>感谢家人与朋友的支持与鼓励！</a:t>
            </a:r>
          </a:p>
          <a:p>
            <a:pPr algn="ctr"/>
            <a:r>
              <a:rPr sz="2000" b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sz="2000" b="0">
                <a:solidFill>
                  <a:srgbClr val="F5F7FA"/>
                </a:solidFill>
                <a:latin typeface="Microsoft YaHei"/>
                <a:ea typeface="Microsoft YaHei"/>
              </a:rPr>
              <a:t>敬请各位老师批评指正！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09728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icrosoft YaHei"/>
                <a:ea typeface="Microsoft YaHei"/>
              </a:rPr>
              <a:t>附录：素材替换说明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●  本云端环境无法读取本机 Codex 会话 019f97f6-… 中的开题 PPT。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●  也无法访问 /Volumes/YIKE_BACKUP/恒星形成模拟器 下的图片资料。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●  请将开题 PPT 与图片文件夹上传/拷贝到本仓库 assets/photos/ 后告知，可自动嵌图精修。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●  已生成图示位于 assets/diagrams/：架构、流程、接线、制作与测试流程。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5F7FA"/>
                </a:solidFill>
                <a:latin typeface="Microsoft YaHei"/>
                <a:ea typeface="Microsoft YaHei"/>
              </a:rPr>
              <a:t>●  封面姓名、导师、测试数据、参考文献请按实际情况填写。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